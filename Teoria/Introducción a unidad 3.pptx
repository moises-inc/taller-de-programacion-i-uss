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62" r:id="rId7"/>
    <p:sldId id="277" r:id="rId8"/>
    <p:sldId id="279" r:id="rId9"/>
    <p:sldId id="263" r:id="rId10"/>
    <p:sldId id="264" r:id="rId11"/>
    <p:sldId id="265" r:id="rId12"/>
    <p:sldId id="266" r:id="rId13"/>
    <p:sldId id="267" r:id="rId14"/>
    <p:sldId id="273" r:id="rId15"/>
    <p:sldId id="274" r:id="rId16"/>
    <p:sldId id="268" r:id="rId17"/>
    <p:sldId id="276" r:id="rId18"/>
    <p:sldId id="269" r:id="rId19"/>
    <p:sldId id="270" r:id="rId20"/>
    <p:sldId id="280" r:id="rId21"/>
    <p:sldId id="281" r:id="rId22"/>
    <p:sldId id="282" r:id="rId23"/>
    <p:sldId id="285" r:id="rId24"/>
    <p:sldId id="283" r:id="rId25"/>
    <p:sldId id="284" r:id="rId26"/>
    <p:sldId id="286" r:id="rId27"/>
    <p:sldId id="287" r:id="rId28"/>
    <p:sldId id="288" r:id="rId29"/>
    <p:sldId id="289" r:id="rId30"/>
    <p:sldId id="261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CoVKmN//fCgvMHqG3d7edZHUmu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ery Lilian Julio Andrade" initials="" lastIdx="2" clrIdx="0"/>
  <p:cmAuthor id="1" name="Vaneska Viloria" initials="" lastIdx="4" clrIdx="1"/>
  <p:cmAuthor id="2" name="FELIPE FLORES VALDEBENITO" initials="FFV" lastIdx="1" clrIdx="2">
    <p:extLst>
      <p:ext uri="{19B8F6BF-5375-455C-9EA6-DF929625EA0E}">
        <p15:presenceInfo xmlns:p15="http://schemas.microsoft.com/office/powerpoint/2012/main" userId="S::ffloresv@docente.uss.cl::117ac73f-8b2d-4191-98a4-4c71b976d20f" providerId="AD"/>
      </p:ext>
    </p:extLst>
  </p:cmAuthor>
  <p:cmAuthor id="3" name="Felipe Flores Valdebenito" initials="FF" lastIdx="2" clrIdx="3">
    <p:extLst>
      <p:ext uri="{19B8F6BF-5375-455C-9EA6-DF929625EA0E}">
        <p15:presenceInfo xmlns:p15="http://schemas.microsoft.com/office/powerpoint/2012/main" userId="S::felipe.flores@uss.cl::dd9b0e64-ed37-4201-aa34-24a95b4f2d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6247" autoAdjust="0"/>
  </p:normalViewPr>
  <p:slideViewPr>
    <p:cSldViewPr snapToGrid="0" snapToObjects="1">
      <p:cViewPr varScale="1">
        <p:scale>
          <a:sx n="142" d="100"/>
          <a:sy n="14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7668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F277D87-40E0-3184-9E02-C8B26087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DAECF9AB-7049-852E-3D53-CED7AA26E1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0CB8D2CA-3998-75EF-6FAC-2391B2B46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8417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979A68A-257D-29EB-458A-E138CD47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811E8B0-2E59-68DD-AE8D-D208E1129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FF1420E5-2DB2-1702-EE7B-371A8B9FB5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5734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79B7791-0C01-FB37-8143-8F5C18353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46A45E2E-4E25-69D4-CF3E-109AE7633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66DFE90E-DF57-D8A8-1119-C345EB0B9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2132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FDA8DAA-EC5E-AD30-4FA7-1954F2C46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B7E0917-51F6-A9C5-8F92-A27AC0530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3DB21F81-E1DE-8B84-9CEA-10946BDCD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472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EF63B81-957A-B34A-F9C9-66B7D436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701AD2B5-0C34-70E1-2813-615C6E0B7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0FDF7ABC-513E-57D8-E5EF-A99786162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8693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02D74E0-9F9A-1152-1A93-265FDDC2C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E541A5D2-BAE8-CE6D-090B-322CEE6573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4B341A2C-AB05-AA6D-43EA-555C312EF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7282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C21606D-592B-1AD9-9608-86944993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5CB4585E-4CC5-EAB6-B124-AA3EA8E69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dirty="0"/>
              <a:t>📌 </a:t>
            </a:r>
            <a:r>
              <a:rPr lang="es-MX" b="1" dirty="0"/>
              <a:t>Explicación rápida:</a:t>
            </a:r>
            <a:br>
              <a:rPr lang="es-MX" dirty="0"/>
            </a:br>
            <a:r>
              <a:rPr lang="es-MX" dirty="0"/>
              <a:t>✔ Importa la biblioteca machine para usar los pines.</a:t>
            </a:r>
            <a:br>
              <a:rPr lang="es-MX" dirty="0"/>
            </a:br>
            <a:r>
              <a:rPr lang="es-MX" dirty="0"/>
              <a:t>✔ Configura el </a:t>
            </a:r>
            <a:r>
              <a:rPr lang="es-MX" b="1" dirty="0"/>
              <a:t>GPIO15 </a:t>
            </a:r>
            <a:r>
              <a:rPr lang="es-MX" dirty="0"/>
              <a:t>como salida.</a:t>
            </a:r>
            <a:br>
              <a:rPr lang="es-MX" dirty="0"/>
            </a:br>
            <a:r>
              <a:rPr lang="es-MX" dirty="0"/>
              <a:t>✔ Enciende y apaga el LED cada segundo.</a:t>
            </a: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9B1A43B9-A8D2-63A3-F523-0171979B2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3010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5064F33-DA2F-429B-AB33-69B6EBC0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A621D7A-5F3D-E23E-5447-794716802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18977CC-FEF2-70B6-2793-7A4E56FC8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3782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1EB96FE-326B-C1CA-A3D1-4090659C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FE142368-716C-9E03-87A9-5A43DE6C13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2FC90E09-2A4C-0444-1EDC-7FA0B8402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8461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F8E3EE1-9BDE-88DF-9034-079E5570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74618967-4184-0793-CFAC-5CB65C9878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FE06B0EB-75BD-8A41-9B47-A49F437E27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0571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F3B8BF7-2BE2-D67E-7ED9-30A7D958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84BDD47D-B55E-56F0-3F6A-9CB4AE2C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298E78CC-B0F8-1E89-0556-B452277C2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1863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DA297F-7A65-6254-3A74-012501A49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4B71843-F522-29F6-B58C-E6F4A2739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from machine import Pin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from </a:t>
            </a:r>
            <a:r>
              <a:rPr lang="en-US" dirty="0" err="1"/>
              <a:t>utime</a:t>
            </a:r>
            <a:r>
              <a:rPr lang="en-US" dirty="0"/>
              <a:t> import sleep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led1 = Pin(15, </a:t>
            </a:r>
            <a:r>
              <a:rPr lang="en-US" dirty="0" err="1"/>
              <a:t>Pin.OUT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led2 = Pin(2, </a:t>
            </a:r>
            <a:r>
              <a:rPr lang="en-US" dirty="0" err="1"/>
              <a:t>Pin.OUT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while True: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led1.on()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led2.off()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sleep(0.5)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led1.off()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led2.on()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sleep(0.5)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-----------------------------------------------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from machine import Pin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from </a:t>
            </a:r>
            <a:r>
              <a:rPr lang="en-US" dirty="0" err="1"/>
              <a:t>utime</a:t>
            </a:r>
            <a:r>
              <a:rPr lang="en-US" dirty="0"/>
              <a:t> import sleep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led1 = Pin(15, </a:t>
            </a:r>
            <a:r>
              <a:rPr lang="en-US" dirty="0" err="1"/>
              <a:t>Pin.OUT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led2 = Pin(2, </a:t>
            </a:r>
            <a:r>
              <a:rPr lang="en-US" dirty="0" err="1"/>
              <a:t>Pin.OUT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led3 = Pin(5, </a:t>
            </a:r>
            <a:r>
              <a:rPr lang="en-US" dirty="0" err="1"/>
              <a:t>Pin.OUT</a:t>
            </a:r>
            <a:r>
              <a:rPr lang="en-US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while True: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led1.on()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led2.off()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led3.off()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sleep(5)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led1.off()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led2.on()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led3.off()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sleep(2)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led1.off()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led2.off()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led3.on()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  sleep(4)</a:t>
            </a: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10EF3A6F-652A-41A9-6D28-1BADF49D21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5040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9C745F4-355E-C713-CCB5-15B565EC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C4AEFB88-68DD-1815-42BE-27D9041AC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9A3A4A1-DE9C-2670-7E36-1D5AE738C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5077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09F29A6-9EF3-B7E7-824F-D2638F25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F3559E99-3542-1BEF-E252-5D740F290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188AEF74-FC41-34DC-EB4C-F7A8398BB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6625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B62D73B-D009-A893-879D-21C8CC05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F021DD4C-AD48-9685-59A8-DA7F2AEDD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9A2EB5AF-AB19-4879-D64F-25731EAE0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8356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273F46E-630E-B954-DAD4-3B8B83C4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0E502D5B-C64C-C451-0EDA-DA4A5CFF9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DBCC5967-01A1-BA22-EF2C-63BD21966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6273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3A7D228-DE89-4AAA-602D-6FC6A0DA1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A652F3A-BD8B-72BF-58AE-63905337B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33D9A2A3-DB4E-A209-7623-326BAB5E49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0813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C2B8955-B339-26F6-5FAD-1C53E824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054AB065-7EE5-DD43-96CD-6724226BC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32C0B7E7-26F8-455C-D9DC-DD96F4294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1924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742641C-6CE7-CDC9-EDDC-29C8662A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848D180A-124D-AE35-C2E1-8D66DBEA7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684DEE06-15C0-D3F6-5930-728C6CC86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4154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B08C876-40D7-2E8A-5E06-9FE942A7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CF609B5-68D1-779D-D3F4-D61EE662D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FF1CB8F6-EB93-4B63-AF0E-731DDCC042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34246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760CCF4-7837-B761-5C37-9C73758D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549E7CA7-7A24-9774-C3BB-1C1C96DE9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724F077-012A-BECD-BD08-006BDD782A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9852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C45832E-E058-6568-30FD-716983CD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58407C52-D905-7B0C-25D9-6C4CF977B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86630855-D5A7-8F7E-9C7B-6450020FC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48098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4F0425A-4CAF-67C8-5E9D-E04D24A74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44846097-ABC6-6A09-55F0-241F5191F2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11C389DE-BF87-23E4-F778-F95589F06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66383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7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okwi.com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11" Type="http://schemas.openxmlformats.org/officeDocument/2006/relationships/image" Target="../media/image24.png"/><Relationship Id="rId5" Type="http://schemas.openxmlformats.org/officeDocument/2006/relationships/image" Target="../media/image8.emf"/><Relationship Id="rId10" Type="http://schemas.openxmlformats.org/officeDocument/2006/relationships/image" Target="../media/image23.sv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10" Type="http://schemas.openxmlformats.org/officeDocument/2006/relationships/image" Target="../media/image37.jpeg"/><Relationship Id="rId4" Type="http://schemas.openxmlformats.org/officeDocument/2006/relationships/image" Target="../media/image5.png"/><Relationship Id="rId9" Type="http://schemas.openxmlformats.org/officeDocument/2006/relationships/image" Target="../media/image36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11" Type="http://schemas.openxmlformats.org/officeDocument/2006/relationships/image" Target="../media/image42.png"/><Relationship Id="rId5" Type="http://schemas.openxmlformats.org/officeDocument/2006/relationships/image" Target="../media/image8.emf"/><Relationship Id="rId10" Type="http://schemas.openxmlformats.org/officeDocument/2006/relationships/image" Target="../media/image41.png"/><Relationship Id="rId4" Type="http://schemas.openxmlformats.org/officeDocument/2006/relationships/image" Target="../media/image5.png"/><Relationship Id="rId9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43.png"/><Relationship Id="rId7" Type="http://schemas.openxmlformats.org/officeDocument/2006/relationships/image" Target="../media/image9.emf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11" Type="http://schemas.openxmlformats.org/officeDocument/2006/relationships/image" Target="../media/image46.jpeg"/><Relationship Id="rId5" Type="http://schemas.openxmlformats.org/officeDocument/2006/relationships/image" Target="../media/image5.png"/><Relationship Id="rId10" Type="http://schemas.openxmlformats.org/officeDocument/2006/relationships/image" Target="../media/image45.jpeg"/><Relationship Id="rId4" Type="http://schemas.openxmlformats.org/officeDocument/2006/relationships/image" Target="../media/image4.png"/><Relationship Id="rId9" Type="http://schemas.openxmlformats.org/officeDocument/2006/relationships/image" Target="../media/image44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>
            <a:hlinkClick r:id="" action="ppaction://hlinkshowjump?jump=nextslide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0" y="2152650"/>
            <a:ext cx="1143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00298" y="3915170"/>
            <a:ext cx="8209983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Introducción a MicroPython y Tarjetas (ESP 32, ESP8266, Raspberry) </a:t>
            </a:r>
            <a:endParaRPr lang="es-ES" sz="2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0299" y="3437731"/>
            <a:ext cx="627035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Taller de programación I</a:t>
            </a:r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5">
            <a:alphaModFix/>
          </a:blip>
          <a:srcRect r="57350"/>
          <a:stretch/>
        </p:blipFill>
        <p:spPr>
          <a:xfrm>
            <a:off x="0" y="63500"/>
            <a:ext cx="1267485" cy="782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>
            <a:hlinkClick r:id=""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>
            <a:hlinkClick r:id=""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>
            <a:hlinkClick r:id="" action="ppaction://hlinkshowjump?jump=firstslide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ítulo 3">
            <a:extLst>
              <a:ext uri="{FF2B5EF4-FFF2-40B4-BE49-F238E27FC236}">
                <a16:creationId xmlns:a16="http://schemas.microsoft.com/office/drawing/2014/main" id="{1230412D-C769-EA21-B6FB-BEE47836201D}"/>
              </a:ext>
            </a:extLst>
          </p:cNvPr>
          <p:cNvSpPr txBox="1">
            <a:spLocks/>
          </p:cNvSpPr>
          <p:nvPr/>
        </p:nvSpPr>
        <p:spPr>
          <a:xfrm>
            <a:off x="2540641" y="1585018"/>
            <a:ext cx="3884927" cy="46380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s-MX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Objetivos de la clase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362FBAA-153C-8D81-57B6-1B0EB8B72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53" y="1490026"/>
            <a:ext cx="1117600" cy="11176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E72A5CE8-026B-D076-15CD-F720CEFB6E83}"/>
              </a:ext>
            </a:extLst>
          </p:cNvPr>
          <p:cNvSpPr/>
          <p:nvPr/>
        </p:nvSpPr>
        <p:spPr>
          <a:xfrm>
            <a:off x="2704413" y="2240595"/>
            <a:ext cx="4269593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Comprender qué es MicroPython y cómo funciona en ESP32, Rasberry, ESP8266.</a:t>
            </a:r>
          </a:p>
          <a:p>
            <a:pPr algn="just"/>
            <a:r>
              <a:rPr lang="es-MX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Configurar y programar en el simulador </a:t>
            </a:r>
            <a:r>
              <a:rPr lang="es-MX" sz="1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Wokwi</a:t>
            </a:r>
            <a:r>
              <a:rPr lang="es-MX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s-MX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Entender los conceptos básicos de voltaje y corriente.</a:t>
            </a:r>
          </a:p>
          <a:p>
            <a:pPr algn="just"/>
            <a:r>
              <a:rPr lang="es-MX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Conectar y usar una </a:t>
            </a:r>
            <a:r>
              <a:rPr lang="es-MX" sz="1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protoboard</a:t>
            </a:r>
            <a:r>
              <a:rPr lang="es-MX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circuitos simples.</a:t>
            </a:r>
            <a:endParaRPr lang="es-CO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A69D35B5-C4C7-AF2D-0FC0-4A103973E339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3DD97E36-136D-3E8B-7128-10E42E831A5D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/>
              <a:t>¿Qué es la ESP32?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ADB00A48-5D24-339B-1EFA-C3F764E0E935}"/>
              </a:ext>
            </a:extLst>
          </p:cNvPr>
          <p:cNvSpPr txBox="1"/>
          <p:nvPr/>
        </p:nvSpPr>
        <p:spPr>
          <a:xfrm>
            <a:off x="414066" y="1433603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s-MX" dirty="0"/>
              <a:t>📌 </a:t>
            </a:r>
            <a:r>
              <a:rPr lang="es-MX" b="1" dirty="0"/>
              <a:t>Características principales:</a:t>
            </a:r>
          </a:p>
          <a:p>
            <a:pPr>
              <a:buNone/>
            </a:pPr>
            <a:br>
              <a:rPr lang="es-MX" dirty="0"/>
            </a:br>
            <a:r>
              <a:rPr lang="es-MX" dirty="0"/>
              <a:t>✔ Microcontrolador con </a:t>
            </a:r>
            <a:r>
              <a:rPr lang="es-MX" b="1" dirty="0" err="1"/>
              <a:t>WiFi</a:t>
            </a:r>
            <a:r>
              <a:rPr lang="es-MX" b="1" dirty="0"/>
              <a:t> y Bluetooth integrados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Soporta </a:t>
            </a:r>
            <a:r>
              <a:rPr lang="es-MX" b="1" dirty="0"/>
              <a:t>MicroPython</a:t>
            </a:r>
            <a:r>
              <a:rPr lang="es-MX" dirty="0"/>
              <a:t> y </a:t>
            </a:r>
            <a:r>
              <a:rPr lang="es-MX" b="1" dirty="0"/>
              <a:t>Arduino C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Dispone de </a:t>
            </a:r>
            <a:r>
              <a:rPr lang="es-MX" b="1" dirty="0"/>
              <a:t>entradas y salidas digitales y analógicas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Ideal para proyectos de </a:t>
            </a:r>
            <a:r>
              <a:rPr lang="es-MX" b="1" dirty="0" err="1"/>
              <a:t>IoT</a:t>
            </a:r>
            <a:r>
              <a:rPr lang="es-MX" b="1" dirty="0"/>
              <a:t>, automatización y robótica</a:t>
            </a:r>
            <a:r>
              <a:rPr lang="es-MX" dirty="0"/>
              <a:t>.</a:t>
            </a:r>
          </a:p>
          <a:p>
            <a:endParaRPr lang="es-MX" dirty="0"/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9647EEB-77FE-4F06-3D2C-5056AE977AA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AF0CA71-3490-464E-2771-C2602B2D52F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20199F9-5FA1-EAC2-483E-223451C91EF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5" name="Google Shape;158;p6">
            <a:extLst>
              <a:ext uri="{FF2B5EF4-FFF2-40B4-BE49-F238E27FC236}">
                <a16:creationId xmlns:a16="http://schemas.microsoft.com/office/drawing/2014/main" id="{EB4AA00E-FE2F-FAB0-13BD-525DF9592E7C}"/>
              </a:ext>
            </a:extLst>
          </p:cNvPr>
          <p:cNvSpPr txBox="1"/>
          <p:nvPr/>
        </p:nvSpPr>
        <p:spPr>
          <a:xfrm>
            <a:off x="4907638" y="4094617"/>
            <a:ext cx="3023197" cy="41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MX" sz="1200" dirty="0"/>
              <a:t>🔍 </a:t>
            </a:r>
            <a:r>
              <a:rPr lang="es-MX" sz="1200" b="1" dirty="0"/>
              <a:t>Ejemplo de prototipado con ESP32</a:t>
            </a:r>
            <a:endParaRPr lang="es-MX" sz="1200" dirty="0"/>
          </a:p>
        </p:txBody>
      </p:sp>
      <p:pic>
        <p:nvPicPr>
          <p:cNvPr id="1028" name="Picture 4" descr="Esp32 Esp32 Iot Dashboard | Esp32">
            <a:extLst>
              <a:ext uri="{FF2B5EF4-FFF2-40B4-BE49-F238E27FC236}">
                <a16:creationId xmlns:a16="http://schemas.microsoft.com/office/drawing/2014/main" id="{D5A4448F-06D9-987A-4F56-50B4505D9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474" y="910713"/>
            <a:ext cx="4031673" cy="302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64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95B2A6D-CAF6-3874-EBD4-D35642B66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08A0E20-07C4-3595-8A9D-15D857BE8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8B167C7-B9EB-0330-14E5-19C1BB6F7C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AC3B825-D6B8-BDD6-8F2B-F8B80CD0D6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276DEEB3-1D56-C8CA-E255-1A4708BC6CE3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343CE45D-E41A-A4A2-DE4C-0411F2FB79C1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/>
              <a:t>¿Qué es la ESP8266?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ECFDBB2C-D6A2-2F0D-DBBE-A497F86A0CFA}"/>
              </a:ext>
            </a:extLst>
          </p:cNvPr>
          <p:cNvSpPr txBox="1"/>
          <p:nvPr/>
        </p:nvSpPr>
        <p:spPr>
          <a:xfrm>
            <a:off x="414067" y="1433603"/>
            <a:ext cx="3048552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s-MX" dirty="0"/>
              <a:t>📌 </a:t>
            </a:r>
            <a:r>
              <a:rPr lang="es-MX" b="1" dirty="0"/>
              <a:t>Características principales:</a:t>
            </a:r>
          </a:p>
          <a:p>
            <a:pPr>
              <a:buNone/>
            </a:pPr>
            <a:br>
              <a:rPr lang="es-MX" dirty="0"/>
            </a:br>
            <a:r>
              <a:rPr lang="es-MX" dirty="0"/>
              <a:t>✔ Microcontrolador con </a:t>
            </a:r>
            <a:r>
              <a:rPr lang="es-MX" b="1" dirty="0" err="1"/>
              <a:t>WiFi</a:t>
            </a:r>
            <a:r>
              <a:rPr lang="es-MX" b="1" dirty="0"/>
              <a:t> y Bluetooth integrados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Soporta </a:t>
            </a:r>
            <a:r>
              <a:rPr lang="es-MX" b="1" dirty="0"/>
              <a:t>MicroPython</a:t>
            </a:r>
            <a:r>
              <a:rPr lang="es-MX" dirty="0"/>
              <a:t> y </a:t>
            </a:r>
            <a:r>
              <a:rPr lang="es-MX" b="1" dirty="0"/>
              <a:t>Arduino C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Dispone de </a:t>
            </a:r>
            <a:r>
              <a:rPr lang="es-MX" b="1" dirty="0"/>
              <a:t>entradas y salidas digitales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Ideal para proyectos de </a:t>
            </a:r>
            <a:r>
              <a:rPr lang="es-MX" b="1" dirty="0" err="1"/>
              <a:t>IoT</a:t>
            </a:r>
            <a:r>
              <a:rPr lang="es-MX" b="1" dirty="0"/>
              <a:t>, automatización y robótica</a:t>
            </a:r>
            <a:r>
              <a:rPr lang="es-MX" dirty="0"/>
              <a:t>.</a:t>
            </a:r>
          </a:p>
          <a:p>
            <a:endParaRPr lang="es-MX" dirty="0"/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B7E83C4-5AA7-855C-CD75-214C525BF7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B1EDD6-A139-44F2-0690-88707692EDE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0DA3719-5E61-6EF1-E4CE-9AD778269F3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5" name="Google Shape;158;p6">
            <a:extLst>
              <a:ext uri="{FF2B5EF4-FFF2-40B4-BE49-F238E27FC236}">
                <a16:creationId xmlns:a16="http://schemas.microsoft.com/office/drawing/2014/main" id="{E8CE19DC-DF83-E401-7CE7-ED688A792BDC}"/>
              </a:ext>
            </a:extLst>
          </p:cNvPr>
          <p:cNvSpPr txBox="1"/>
          <p:nvPr/>
        </p:nvSpPr>
        <p:spPr>
          <a:xfrm>
            <a:off x="4907638" y="4094617"/>
            <a:ext cx="3506270" cy="41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MX" sz="1200" dirty="0"/>
              <a:t>🔍 </a:t>
            </a:r>
            <a:r>
              <a:rPr lang="es-MX" sz="1200" b="1" dirty="0"/>
              <a:t>Ejemplo de prototipado con ESP8266</a:t>
            </a:r>
            <a:endParaRPr lang="es-MX" sz="1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FF35F5-DBC2-B950-CDBE-4979008800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3351" y="1265518"/>
            <a:ext cx="5470696" cy="209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9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16532A4-E2B8-1E46-D661-5548DFED7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8283F10-52C5-ACE7-E0A6-98A15270B4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3C7256A-4907-E429-274E-31BDA2420E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670B6D9-0481-E828-B753-50F6A3DF46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6AE2D5A0-A60E-847C-DBED-EA2DD08296F8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10DDBB6E-12CD-05FC-CD6B-F6F578EAFDDA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/>
              <a:t>¿Qué es la Rasberry?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C6F21E37-B49E-96AE-E54F-9F55CD9CC132}"/>
              </a:ext>
            </a:extLst>
          </p:cNvPr>
          <p:cNvSpPr txBox="1"/>
          <p:nvPr/>
        </p:nvSpPr>
        <p:spPr>
          <a:xfrm>
            <a:off x="414067" y="1433603"/>
            <a:ext cx="3048552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s-MX" dirty="0"/>
              <a:t>📌 </a:t>
            </a:r>
            <a:r>
              <a:rPr lang="es-MX" b="1" dirty="0"/>
              <a:t>Características principales:</a:t>
            </a:r>
          </a:p>
          <a:p>
            <a:pPr>
              <a:buNone/>
            </a:pPr>
            <a:br>
              <a:rPr lang="es-MX" dirty="0"/>
            </a:br>
            <a:r>
              <a:rPr lang="es-MX" dirty="0"/>
              <a:t>✔ Microcontrolador con </a:t>
            </a:r>
            <a:r>
              <a:rPr lang="es-MX" b="1" dirty="0" err="1"/>
              <a:t>WiFi</a:t>
            </a:r>
            <a:r>
              <a:rPr lang="es-MX" b="1" dirty="0"/>
              <a:t> y Bluetooth integrados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Soporta </a:t>
            </a:r>
            <a:r>
              <a:rPr lang="es-MX" b="1" dirty="0"/>
              <a:t>MicroPython</a:t>
            </a:r>
            <a:r>
              <a:rPr lang="es-MX" dirty="0"/>
              <a:t> y </a:t>
            </a:r>
            <a:r>
              <a:rPr lang="es-MX" b="1" dirty="0"/>
              <a:t>Arduino C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Dispone de </a:t>
            </a:r>
            <a:r>
              <a:rPr lang="es-MX" b="1" dirty="0"/>
              <a:t>entradas y salidas digitales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✔ Ideal para proyectos de </a:t>
            </a:r>
            <a:r>
              <a:rPr lang="es-MX" b="1" dirty="0" err="1"/>
              <a:t>IoT</a:t>
            </a:r>
            <a:r>
              <a:rPr lang="es-MX" b="1" dirty="0"/>
              <a:t>, automatización y robótica</a:t>
            </a:r>
            <a:r>
              <a:rPr lang="es-MX" dirty="0"/>
              <a:t>.</a:t>
            </a:r>
          </a:p>
          <a:p>
            <a:endParaRPr lang="es-MX" dirty="0"/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8EE9393-1F28-2DE7-D257-8985C802AA4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7683166-7027-3D29-B32A-44704D05245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B8A8142-4C95-3BE2-1C10-05C65D9EC88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5" name="Google Shape;158;p6">
            <a:extLst>
              <a:ext uri="{FF2B5EF4-FFF2-40B4-BE49-F238E27FC236}">
                <a16:creationId xmlns:a16="http://schemas.microsoft.com/office/drawing/2014/main" id="{F2239F1D-D45E-876B-4CDF-191EBF2AE2EE}"/>
              </a:ext>
            </a:extLst>
          </p:cNvPr>
          <p:cNvSpPr txBox="1"/>
          <p:nvPr/>
        </p:nvSpPr>
        <p:spPr>
          <a:xfrm>
            <a:off x="4907638" y="4094617"/>
            <a:ext cx="3644691" cy="41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MX" sz="1200" dirty="0"/>
              <a:t>🔍 </a:t>
            </a:r>
            <a:r>
              <a:rPr lang="es-MX" sz="1200" b="1" dirty="0"/>
              <a:t>Ejemplo de prototipado con Raspberry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0F420C-2685-FDEC-CB9D-FDA7B328EE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5360" y="1320893"/>
            <a:ext cx="3349574" cy="25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9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19CA4CC-ACA6-595F-990F-47CCF72B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BA845B3-251B-9055-B916-F63D8CD097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2E5F20-5ECF-61F2-AB80-327A22CF55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BF6B3B8-5651-8F5A-516B-33447E6C87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589F119C-3E03-E25D-80F5-8A736968FC74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8C6B3B4C-7C24-8B58-83BA-25E7BD27DE70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/>
              <a:t>¿Qué es </a:t>
            </a:r>
            <a:r>
              <a:rPr lang="es-CL" dirty="0" err="1"/>
              <a:t>MicroPython</a:t>
            </a:r>
            <a:r>
              <a:rPr lang="es-CL" dirty="0"/>
              <a:t>?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33693952-7033-C4D5-B4CC-8D3F0AF7E761}"/>
              </a:ext>
            </a:extLst>
          </p:cNvPr>
          <p:cNvSpPr txBox="1"/>
          <p:nvPr/>
        </p:nvSpPr>
        <p:spPr>
          <a:xfrm>
            <a:off x="330416" y="1406911"/>
            <a:ext cx="4462525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dirty="0"/>
              <a:t>📌 </a:t>
            </a:r>
            <a:r>
              <a:rPr lang="es-CL" b="1" dirty="0"/>
              <a:t>Características de </a:t>
            </a:r>
            <a:r>
              <a:rPr lang="es-CL" b="1" dirty="0" err="1"/>
              <a:t>MicroPython</a:t>
            </a:r>
            <a:r>
              <a:rPr lang="es-CL" b="1" dirty="0"/>
              <a:t>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s-CL" dirty="0"/>
            </a:br>
            <a:r>
              <a:rPr lang="es-CL" dirty="0"/>
              <a:t>✔ Versión ligera de </a:t>
            </a:r>
            <a:r>
              <a:rPr lang="es-CL" b="1" dirty="0"/>
              <a:t>Python</a:t>
            </a:r>
            <a:r>
              <a:rPr lang="es-CL" dirty="0"/>
              <a:t> diseñada para microcontroladores.</a:t>
            </a:r>
            <a:br>
              <a:rPr lang="es-CL" dirty="0"/>
            </a:br>
            <a:r>
              <a:rPr lang="es-CL" dirty="0"/>
              <a:t>✔ Sintaxis similar a Python estándar, pero optimizada para hardware.</a:t>
            </a:r>
            <a:br>
              <a:rPr lang="es-CL" dirty="0"/>
            </a:br>
            <a:r>
              <a:rPr lang="es-CL" dirty="0"/>
              <a:t>✔ Permite </a:t>
            </a:r>
            <a:r>
              <a:rPr lang="es-CL" b="1" dirty="0"/>
              <a:t>leer sensores, controlar actuadores y conectividad </a:t>
            </a:r>
            <a:r>
              <a:rPr lang="es-CL" b="1" dirty="0" err="1"/>
              <a:t>IoT</a:t>
            </a:r>
            <a:r>
              <a:rPr lang="es-CL" dirty="0"/>
              <a:t>.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B2B84C-DFE6-B78A-8209-9A423EA7305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D25C092-F558-46E1-7923-B42162BC5CB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844FD81-E8B7-8D89-13A9-0BCF1442D41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D6858344-DAB6-5BAF-96B6-AAA91D9519DD}"/>
              </a:ext>
            </a:extLst>
          </p:cNvPr>
          <p:cNvSpPr txBox="1"/>
          <p:nvPr/>
        </p:nvSpPr>
        <p:spPr>
          <a:xfrm>
            <a:off x="4907639" y="972174"/>
            <a:ext cx="3914191" cy="395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dirty="0"/>
              <a:t>🔍 </a:t>
            </a:r>
            <a:r>
              <a:rPr lang="es-MX" b="1" dirty="0"/>
              <a:t>Ejemplo de código en MicroPython: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318708C1-38FE-3FDB-8285-BB06AF0B840C}"/>
              </a:ext>
            </a:extLst>
          </p:cNvPr>
          <p:cNvSpPr txBox="1"/>
          <p:nvPr/>
        </p:nvSpPr>
        <p:spPr>
          <a:xfrm>
            <a:off x="4906328" y="2580611"/>
            <a:ext cx="3914191" cy="395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dirty="0"/>
              <a:t>📌 </a:t>
            </a:r>
            <a:r>
              <a:rPr lang="es-CL" b="1" dirty="0"/>
              <a:t>Salida esperada:</a:t>
            </a:r>
            <a:endParaRPr lang="es-MX"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8FDDD1-3CC4-E519-A773-19094839B3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8523" y="1498645"/>
            <a:ext cx="3709802" cy="7694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156D2B-CBFA-970F-61DC-A40A8F1785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3781" y="3124079"/>
            <a:ext cx="314368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98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F8FF35C-0F65-B9C1-6B71-885D6D8C4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498915E-8333-3D0E-2CA6-5D5BB22BC3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D71741-437A-2A3C-33C4-F5BC60CEA0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4678A0E-E81C-9E5F-25D7-2D928DDD6F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A5DA94A4-0D38-6F05-3ECE-B1CC5D2AB2BF}"/>
              </a:ext>
            </a:extLst>
          </p:cNvPr>
          <p:cNvSpPr/>
          <p:nvPr/>
        </p:nvSpPr>
        <p:spPr>
          <a:xfrm>
            <a:off x="6477000" y="89197"/>
            <a:ext cx="13976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 al curso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B5C4518C-D758-B493-5D39-5671FDE1A479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8929D5C8-4874-ADBC-4726-B81B1D0C0DD0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MX" dirty="0"/>
              <a:t>¿Qué es </a:t>
            </a:r>
            <a:r>
              <a:rPr lang="es-MX" dirty="0" err="1"/>
              <a:t>Wokwi</a:t>
            </a:r>
            <a:r>
              <a:rPr lang="es-MX" dirty="0"/>
              <a:t> y cómo usarlo?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97A3665F-268F-F80B-6DF7-EADD6B5CD85D}"/>
              </a:ext>
            </a:extLst>
          </p:cNvPr>
          <p:cNvSpPr txBox="1"/>
          <p:nvPr/>
        </p:nvSpPr>
        <p:spPr>
          <a:xfrm>
            <a:off x="203761" y="1276050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dirty="0"/>
              <a:t>📌 </a:t>
            </a:r>
            <a:r>
              <a:rPr lang="es-CL" b="1" dirty="0"/>
              <a:t>Características de Wokwi: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s-CL" dirty="0"/>
            </a:br>
            <a:r>
              <a:rPr lang="es-CL" dirty="0"/>
              <a:t>✔ Simulador gratuito de microcontroladores.</a:t>
            </a:r>
            <a:br>
              <a:rPr lang="es-CL" dirty="0"/>
            </a:br>
            <a:r>
              <a:rPr lang="es-CL" dirty="0"/>
              <a:t>✔ Soporta </a:t>
            </a:r>
            <a:r>
              <a:rPr lang="es-CL" b="1" dirty="0"/>
              <a:t>ESP32, Arduino, Raspberry Pi Pico, entre otros</a:t>
            </a:r>
            <a:r>
              <a:rPr lang="es-CL" dirty="0"/>
              <a:t>.</a:t>
            </a:r>
            <a:br>
              <a:rPr lang="es-CL" dirty="0"/>
            </a:br>
            <a:r>
              <a:rPr lang="es-CL" dirty="0"/>
              <a:t>✔ Permite simular sensores, pantallas y motores sin hardware físico.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931505-2C86-B84A-0D3A-034B68AEC1D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BA94BB-5C83-F759-9A29-E6EAE8DC27A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D57068-9771-AF47-BE3C-8941123C7FB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17A55104-C904-C1E0-C12C-36109F46FEA5}"/>
              </a:ext>
            </a:extLst>
          </p:cNvPr>
          <p:cNvSpPr txBox="1"/>
          <p:nvPr/>
        </p:nvSpPr>
        <p:spPr>
          <a:xfrm>
            <a:off x="157291" y="2898173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400" b="1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📌 Pasos para comenzar en </a:t>
            </a:r>
            <a:r>
              <a:rPr lang="es-MX" sz="1400" b="1" i="0" u="none" strike="noStrike" cap="none" dirty="0" err="1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Wokwi</a:t>
            </a:r>
            <a:r>
              <a:rPr lang="es-MX" sz="1400" b="1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: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MX" sz="1400" b="1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s-MX" sz="140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Ir a </a:t>
            </a:r>
            <a:r>
              <a:rPr lang="es-MX" sz="140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  <a:hlinkClick r:id="rId8"/>
              </a:rPr>
              <a:t>wokwi.com</a:t>
            </a:r>
            <a:endParaRPr lang="es-MX" sz="140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s-MX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Registrarse con un correo electrónico</a:t>
            </a:r>
            <a:endParaRPr lang="es-MX" sz="140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s-MX" sz="140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Seleccionar la opción de MicroPython.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s-MX" sz="140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Crear un nuevo proyecto con ESP32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s-MX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Seleccionar componentes y codificar </a:t>
            </a:r>
            <a:endParaRPr lang="es-MX" sz="140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s-MX" sz="140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Ejecutar y ver la simulación.</a:t>
            </a:r>
            <a:endParaRPr lang="es-ES" sz="1400" i="0" u="none" strike="noStrike" cap="none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2063AB-DABE-9773-B670-66DD94D6F1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4422" y="1698072"/>
            <a:ext cx="4461294" cy="264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2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F4F392C-A699-425A-841E-63EC76D0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3991BC2-80DE-30F9-3309-1CD1AC7D5E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25D1D3C-E6CB-C963-B7EE-22674C920D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88CB9B8-043D-363B-9226-D409F07636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61AC887E-5D3B-9078-A737-7E4F2F689710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02B94A91-FDC0-1EA0-32BE-B042421E2CE3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>
                <a:sym typeface="Calibri"/>
              </a:rPr>
              <a:t>Primer proyecto utilizando </a:t>
            </a:r>
            <a:r>
              <a:rPr lang="es-CL" dirty="0" err="1">
                <a:sym typeface="Calibri"/>
              </a:rPr>
              <a:t>MicroPython</a:t>
            </a:r>
            <a:r>
              <a:rPr lang="es-CL" dirty="0">
                <a:sym typeface="Calibri"/>
              </a:rPr>
              <a:t> y ESP32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51319793-1CFA-83FB-838B-76F25FA56E55}"/>
              </a:ext>
            </a:extLst>
          </p:cNvPr>
          <p:cNvSpPr txBox="1"/>
          <p:nvPr/>
        </p:nvSpPr>
        <p:spPr>
          <a:xfrm>
            <a:off x="159855" y="1519429"/>
            <a:ext cx="3914191" cy="25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Seleccionar </a:t>
            </a:r>
            <a:r>
              <a:rPr lang="es-E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MicroPython</a:t>
            </a:r>
            <a:endParaRPr lang="es-E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</a:t>
            </a:r>
            <a:r>
              <a:rPr lang="es-E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que la URL se vea de la siguiente forma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8C0799F-47B5-C346-13E0-9DEBB0197DA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B82A9AD-2C89-1947-415A-D123A728052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B0E073-8F7D-FB40-24A3-308A90199F4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28926781-F489-4822-C272-04A742084343}"/>
              </a:ext>
            </a:extLst>
          </p:cNvPr>
          <p:cNvSpPr txBox="1"/>
          <p:nvPr/>
        </p:nvSpPr>
        <p:spPr>
          <a:xfrm>
            <a:off x="4544877" y="1523772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Crear un nuevo proyecto seleccionando la opción </a:t>
            </a:r>
            <a:r>
              <a:rPr lang="es-E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MicroPython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ESP32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407CB4-2862-3F5C-4CC6-0ED420C6C4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674" y="1954684"/>
            <a:ext cx="3604204" cy="13716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98D40D-F190-A689-678B-E10825ABB7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855" y="4105074"/>
            <a:ext cx="3641023" cy="73901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8594A13-B5E9-20AC-1ACC-41D661D173FD}"/>
              </a:ext>
            </a:extLst>
          </p:cNvPr>
          <p:cNvSpPr/>
          <p:nvPr/>
        </p:nvSpPr>
        <p:spPr>
          <a:xfrm>
            <a:off x="471055" y="4052455"/>
            <a:ext cx="1731818" cy="367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39B480-9575-D34B-9A39-EC8E3BD088FA}"/>
              </a:ext>
            </a:extLst>
          </p:cNvPr>
          <p:cNvSpPr/>
          <p:nvPr/>
        </p:nvSpPr>
        <p:spPr>
          <a:xfrm>
            <a:off x="1929085" y="2218621"/>
            <a:ext cx="1555333" cy="1044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E1256A-86F5-1D21-AE0F-DD21725C35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3036" y="2218621"/>
            <a:ext cx="4371109" cy="1767225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E4BA2A6-9B8D-DE8B-4B5A-2ECDD66AB04D}"/>
              </a:ext>
            </a:extLst>
          </p:cNvPr>
          <p:cNvSpPr/>
          <p:nvPr/>
        </p:nvSpPr>
        <p:spPr>
          <a:xfrm>
            <a:off x="6729601" y="2544041"/>
            <a:ext cx="1555333" cy="457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591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C3A1B73F-992C-0FC9-641C-35ADFEE0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6C4A12C-82E7-5320-0FC0-B9FA180970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E9CD060-E55E-C4BB-F570-6E1AE6BB43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2F3F057-F288-CFE4-54D7-DEB3D3821C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1830D81D-1FF7-0D06-1065-1C86024146ED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B1BFBAC4-8B82-C135-40A4-4FAF554A07EC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>
                <a:sym typeface="Calibri"/>
              </a:rPr>
              <a:t>Interfaz de Wokwi</a:t>
            </a:r>
            <a:endParaRPr dirty="0">
              <a:sym typeface="Calibri"/>
            </a:endParaRP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BBE8DA2-1080-F8B0-1116-0599172E8A6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1F69004-6C69-3DF5-51C1-ABAB5ED1290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45ABC29-E606-081A-9FA7-C33C2FA16FD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9380FDF-7DA7-EFFE-B483-04AC97CA3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854" y="1438873"/>
            <a:ext cx="5898339" cy="2966872"/>
          </a:xfrm>
          <a:prstGeom prst="rect">
            <a:avLst/>
          </a:prstGeom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7D889187-CE32-E9E2-D40F-6B1F136DCA8C}"/>
              </a:ext>
            </a:extLst>
          </p:cNvPr>
          <p:cNvSpPr txBox="1"/>
          <p:nvPr/>
        </p:nvSpPr>
        <p:spPr>
          <a:xfrm>
            <a:off x="815853" y="2642044"/>
            <a:ext cx="334074" cy="38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014EB15A-93E9-CB27-4BE9-D9B0A8EFEEEE}"/>
              </a:ext>
            </a:extLst>
          </p:cNvPr>
          <p:cNvSpPr txBox="1"/>
          <p:nvPr/>
        </p:nvSpPr>
        <p:spPr>
          <a:xfrm>
            <a:off x="6124805" y="1370837"/>
            <a:ext cx="2859341" cy="326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En este apartado se escriben los códigos de programación que interactúan con la placa esp32.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En este apartado , se colocan los componentes de hardware que simularan el prototipo físico.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 El primer botón “</a:t>
            </a:r>
            <a:r>
              <a:rPr lang="es-E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</a:t>
            </a: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permite ejecutar la simulación del código y los componentes de hardware. El botón “+” permite añadir nuevos componentes de hardware al prototipo, como, por ejemplo : leds, resistencias , sensores , entre otros. </a:t>
            </a:r>
            <a:endParaRPr sz="1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8;p6">
            <a:extLst>
              <a:ext uri="{FF2B5EF4-FFF2-40B4-BE49-F238E27FC236}">
                <a16:creationId xmlns:a16="http://schemas.microsoft.com/office/drawing/2014/main" id="{59E181B8-8C1C-4F6A-2832-144272A8A6FD}"/>
              </a:ext>
            </a:extLst>
          </p:cNvPr>
          <p:cNvSpPr txBox="1"/>
          <p:nvPr/>
        </p:nvSpPr>
        <p:spPr>
          <a:xfrm>
            <a:off x="3863853" y="2642044"/>
            <a:ext cx="334074" cy="38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58;p6">
            <a:extLst>
              <a:ext uri="{FF2B5EF4-FFF2-40B4-BE49-F238E27FC236}">
                <a16:creationId xmlns:a16="http://schemas.microsoft.com/office/drawing/2014/main" id="{4C393DD3-89AB-B8E2-972E-38132BB9A9B8}"/>
              </a:ext>
            </a:extLst>
          </p:cNvPr>
          <p:cNvSpPr txBox="1"/>
          <p:nvPr/>
        </p:nvSpPr>
        <p:spPr>
          <a:xfrm>
            <a:off x="4249794" y="1785217"/>
            <a:ext cx="334074" cy="38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2629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CB3DF7B-3424-A739-BA2E-236347BF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A360997-8577-2823-EDD9-661BDD9B0B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4106EFD-081C-C9FC-9802-D13B6147C0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B6485BD-F73B-5BC1-38D4-F08ACC1AD6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06E2C7E7-60DE-E667-0F6A-C09F7227C864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8F7F76B5-646F-B962-9B67-EAB57962F0DA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>
                <a:sym typeface="Calibri"/>
              </a:rPr>
              <a:t>Primer circuito : “Hola Mundo” 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A44CF00C-B7CE-C833-984E-BB8645663F46}"/>
              </a:ext>
            </a:extLst>
          </p:cNvPr>
          <p:cNvSpPr txBox="1"/>
          <p:nvPr/>
        </p:nvSpPr>
        <p:spPr>
          <a:xfrm>
            <a:off x="746580" y="1276050"/>
            <a:ext cx="2970494" cy="423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 de Programación 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4FBC5CC-3FF5-1F7F-F612-796AB7E4876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1C1DE01-1F13-5246-A91F-DFEF18552E8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B164FBB-E5F9-14A3-26BE-0400A86F3A8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EC4F2AA4-EBC6-9302-2D0E-8389257F48CB}"/>
              </a:ext>
            </a:extLst>
          </p:cNvPr>
          <p:cNvSpPr txBox="1"/>
          <p:nvPr/>
        </p:nvSpPr>
        <p:spPr>
          <a:xfrm>
            <a:off x="4266837" y="1277482"/>
            <a:ext cx="1160091" cy="423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Circuito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9B297F7-5071-977A-477D-F780F0E1D4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854" y="1699755"/>
            <a:ext cx="3229220" cy="305737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28D61E6-3910-7B24-7D72-8BA256944752}"/>
              </a:ext>
            </a:extLst>
          </p:cNvPr>
          <p:cNvSpPr txBox="1"/>
          <p:nvPr/>
        </p:nvSpPr>
        <p:spPr>
          <a:xfrm>
            <a:off x="6493353" y="1797071"/>
            <a:ext cx="19605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Componentes</a:t>
            </a:r>
          </a:p>
          <a:p>
            <a:endParaRPr lang="es-CL" dirty="0"/>
          </a:p>
          <a:p>
            <a:r>
              <a:rPr lang="es-CL" dirty="0"/>
              <a:t>1- ESP32</a:t>
            </a:r>
          </a:p>
          <a:p>
            <a:r>
              <a:rPr lang="es-CL" dirty="0"/>
              <a:t>2- Led</a:t>
            </a:r>
          </a:p>
          <a:p>
            <a:r>
              <a:rPr lang="es-CL" dirty="0"/>
              <a:t>3- Resistencia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999748-89A7-7598-FC03-CACC2CB4963E}"/>
              </a:ext>
            </a:extLst>
          </p:cNvPr>
          <p:cNvSpPr txBox="1"/>
          <p:nvPr/>
        </p:nvSpPr>
        <p:spPr>
          <a:xfrm>
            <a:off x="6496931" y="3206028"/>
            <a:ext cx="2396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¿Qué hace el circuito?</a:t>
            </a:r>
          </a:p>
          <a:p>
            <a:endParaRPr lang="es-CL" dirty="0"/>
          </a:p>
          <a:p>
            <a:r>
              <a:rPr lang="es-CL" dirty="0"/>
              <a:t>¿Qué ocurre si cambiamos el valor de la función </a:t>
            </a:r>
            <a:r>
              <a:rPr lang="es-CL" dirty="0" err="1"/>
              <a:t>sleep</a:t>
            </a:r>
            <a:r>
              <a:rPr lang="es-CL" dirty="0"/>
              <a:t>?</a:t>
            </a:r>
          </a:p>
        </p:txBody>
      </p:sp>
      <p:pic>
        <p:nvPicPr>
          <p:cNvPr id="16" name="Gráfico 15" descr="Preguntas con relleno sólido">
            <a:extLst>
              <a:ext uri="{FF2B5EF4-FFF2-40B4-BE49-F238E27FC236}">
                <a16:creationId xmlns:a16="http://schemas.microsoft.com/office/drawing/2014/main" id="{C28483C0-5B65-3315-80D9-D19AB689CC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16436" y="4154272"/>
            <a:ext cx="914400" cy="9144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FA2F934-AB7E-55D5-AB03-564A06FC38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5958" y="1734571"/>
            <a:ext cx="2555429" cy="28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0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2A34B25-385A-CA47-3BD8-35B4E434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34C8FB4-142C-D6C4-3EE6-AE896816A4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BC6482A-62BD-B003-D637-B676855ED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546C0BB-0C0C-B3FA-0C10-8BAD87D920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3B14F657-8FDB-2200-1306-1A1A67CAA344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A4849F63-3482-410F-E32C-1CB3792ED0D4}"/>
              </a:ext>
            </a:extLst>
          </p:cNvPr>
          <p:cNvSpPr txBox="1"/>
          <p:nvPr/>
        </p:nvSpPr>
        <p:spPr>
          <a:xfrm>
            <a:off x="333650" y="39409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>
                <a:sym typeface="Calibri"/>
              </a:rPr>
              <a:t>Explicación líneas de código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A103D4C2-C23C-78A6-EC99-4F07638782CC}"/>
              </a:ext>
            </a:extLst>
          </p:cNvPr>
          <p:cNvSpPr txBox="1"/>
          <p:nvPr/>
        </p:nvSpPr>
        <p:spPr>
          <a:xfrm>
            <a:off x="256876" y="867865"/>
            <a:ext cx="2970494" cy="423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 de Programación 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2BAB3F7-CA9E-504A-9B8B-08381737FBD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FDBCBA-3C6B-9DB3-FC33-92BC31CEBE5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107CC12-CD30-22B1-1D93-F91C4CA7827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732397D-94C6-1346-69D2-64DC15B3B1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875" y="1320849"/>
            <a:ext cx="2915815" cy="352323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A45D00D-83BF-259E-C69F-8FF5CD8CFE31}"/>
              </a:ext>
            </a:extLst>
          </p:cNvPr>
          <p:cNvSpPr txBox="1"/>
          <p:nvPr/>
        </p:nvSpPr>
        <p:spPr>
          <a:xfrm>
            <a:off x="3321681" y="3292757"/>
            <a:ext cx="42104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El bucle </a:t>
            </a:r>
            <a:r>
              <a:rPr lang="es-MX" sz="1200" b="1" dirty="0" err="1"/>
              <a:t>while</a:t>
            </a:r>
            <a:r>
              <a:rPr lang="es-MX" sz="1200" b="1" dirty="0"/>
              <a:t> True </a:t>
            </a:r>
            <a:r>
              <a:rPr lang="es-MX" sz="1200" dirty="0"/>
              <a:t>asegura que el código se ejecute de manera continua.</a:t>
            </a:r>
          </a:p>
          <a:p>
            <a:endParaRPr lang="es-MX" sz="1200" dirty="0"/>
          </a:p>
          <a:p>
            <a:r>
              <a:rPr lang="es-MX" sz="1200" b="1" dirty="0" err="1"/>
              <a:t>led.on</a:t>
            </a:r>
            <a:r>
              <a:rPr lang="es-MX" sz="1200" b="1" dirty="0"/>
              <a:t>() </a:t>
            </a:r>
            <a:r>
              <a:rPr lang="es-MX" sz="1200" dirty="0"/>
              <a:t>enciende el LED.</a:t>
            </a:r>
          </a:p>
          <a:p>
            <a:r>
              <a:rPr lang="es-MX" sz="1200" b="1" dirty="0" err="1"/>
              <a:t>sleep</a:t>
            </a:r>
            <a:r>
              <a:rPr lang="es-MX" sz="1200" b="1" dirty="0"/>
              <a:t>(0.5) </a:t>
            </a:r>
            <a:r>
              <a:rPr lang="es-MX" sz="1200" dirty="0"/>
              <a:t>hace que el programa espere 0.5 segundos.</a:t>
            </a:r>
          </a:p>
          <a:p>
            <a:r>
              <a:rPr lang="es-MX" sz="1200" b="1" dirty="0" err="1"/>
              <a:t>led.off</a:t>
            </a:r>
            <a:r>
              <a:rPr lang="es-MX" sz="1200" b="1" dirty="0"/>
              <a:t>() </a:t>
            </a:r>
            <a:r>
              <a:rPr lang="es-MX" sz="1200" dirty="0"/>
              <a:t>apaga el LED.</a:t>
            </a:r>
          </a:p>
          <a:p>
            <a:r>
              <a:rPr lang="es-MX" sz="1200" b="1" dirty="0" err="1"/>
              <a:t>sleep</a:t>
            </a:r>
            <a:r>
              <a:rPr lang="es-MX" sz="1200" b="1" dirty="0"/>
              <a:t>(0.5) </a:t>
            </a:r>
            <a:r>
              <a:rPr lang="es-MX" sz="1200" dirty="0"/>
              <a:t>hace que el programa espere otros 0.5 segundos antes de volver a encender el LED.</a:t>
            </a:r>
            <a:endParaRPr lang="es-CL" sz="12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4F605D6-3B6A-0627-2055-C036C41F38BF}"/>
              </a:ext>
            </a:extLst>
          </p:cNvPr>
          <p:cNvSpPr txBox="1"/>
          <p:nvPr/>
        </p:nvSpPr>
        <p:spPr>
          <a:xfrm>
            <a:off x="3321679" y="2708831"/>
            <a:ext cx="5690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Crea un objeto led que representa el pin 15 de la ESP32 configurado como salida (</a:t>
            </a:r>
            <a:r>
              <a:rPr lang="es-MX" sz="1200" dirty="0" err="1"/>
              <a:t>Pin.OUT</a:t>
            </a:r>
            <a:r>
              <a:rPr lang="es-MX" sz="1200" dirty="0"/>
              <a:t>). Este pin será usado para controlar el LED</a:t>
            </a:r>
            <a:endParaRPr lang="es-CL" sz="12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37CA90A-A295-712F-A8A1-C6184AC1CD0F}"/>
              </a:ext>
            </a:extLst>
          </p:cNvPr>
          <p:cNvSpPr txBox="1"/>
          <p:nvPr/>
        </p:nvSpPr>
        <p:spPr>
          <a:xfrm>
            <a:off x="3321680" y="2083704"/>
            <a:ext cx="5690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Crea un objeto led que representa el pin 15 de la ESP32 configurado como salida (</a:t>
            </a:r>
            <a:r>
              <a:rPr lang="es-MX" sz="1200" dirty="0" err="1"/>
              <a:t>Pin.OUT</a:t>
            </a:r>
            <a:r>
              <a:rPr lang="es-MX" sz="1200" dirty="0"/>
              <a:t>). Este pin será usado para controlar el LED.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F1A712B-4A64-2B22-B74D-74F25B3A9C4A}"/>
              </a:ext>
            </a:extLst>
          </p:cNvPr>
          <p:cNvSpPr txBox="1"/>
          <p:nvPr/>
        </p:nvSpPr>
        <p:spPr>
          <a:xfrm>
            <a:off x="3321681" y="1226956"/>
            <a:ext cx="56908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Pin</a:t>
            </a:r>
            <a:r>
              <a:rPr lang="es-MX" sz="1200" dirty="0"/>
              <a:t> se importa desde el módulo machine, y se usa para controlar los pines de la placa.</a:t>
            </a:r>
          </a:p>
          <a:p>
            <a:r>
              <a:rPr lang="es-MX" sz="1200" b="1" dirty="0" err="1"/>
              <a:t>sleep</a:t>
            </a:r>
            <a:r>
              <a:rPr lang="es-MX" sz="1200" dirty="0"/>
              <a:t> se importa desde el módulo </a:t>
            </a:r>
            <a:r>
              <a:rPr lang="es-MX" sz="1200" dirty="0" err="1"/>
              <a:t>utime</a:t>
            </a:r>
            <a:r>
              <a:rPr lang="es-MX" sz="1200" dirty="0"/>
              <a:t>, y permite pausar la ejecución del programa por un tiempo determinado.</a:t>
            </a:r>
          </a:p>
        </p:txBody>
      </p:sp>
    </p:spTree>
    <p:extLst>
      <p:ext uri="{BB962C8B-B14F-4D97-AF65-F5344CB8AC3E}">
        <p14:creationId xmlns:p14="http://schemas.microsoft.com/office/powerpoint/2010/main" val="3114403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E66CA48-6423-305C-9D40-79B01AEF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34FB6DD-7CCA-54E9-3072-2D89638894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1E758C2-4978-CFA6-157B-D4D95980A0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CFC915-AE46-3A06-3DD3-F149E69A94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8B0AC910-96D1-9BB1-9EA9-7DD6E1EAD1B0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043A51F1-F7B2-B651-3670-5ACC19C0A553}"/>
              </a:ext>
            </a:extLst>
          </p:cNvPr>
          <p:cNvSpPr txBox="1"/>
          <p:nvPr/>
        </p:nvSpPr>
        <p:spPr>
          <a:xfrm>
            <a:off x="333650" y="39409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MX" dirty="0"/>
              <a:t>Voltaje, Corriente y Resistencia en el Circuito </a:t>
            </a:r>
            <a:r>
              <a:rPr lang="es-MX" dirty="0" err="1"/>
              <a:t>Blink</a:t>
            </a:r>
            <a:r>
              <a:rPr lang="es-MX" dirty="0"/>
              <a:t> con ESP32</a:t>
            </a:r>
            <a:endParaRPr dirty="0">
              <a:sym typeface="Calibri"/>
            </a:endParaRP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881D15-C8BF-C5A8-46B7-9D0CA1FAEDD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6B436B-7F15-90E6-B74A-F51AA51934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2585BDD-10E5-67E5-3679-7F3D951FC13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D018CBD5-7A1D-167D-0968-B9B772563EBF}"/>
              </a:ext>
            </a:extLst>
          </p:cNvPr>
          <p:cNvSpPr txBox="1"/>
          <p:nvPr/>
        </p:nvSpPr>
        <p:spPr>
          <a:xfrm>
            <a:off x="333649" y="1344760"/>
            <a:ext cx="39722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Voltaje (V): </a:t>
            </a:r>
            <a:r>
              <a:rPr lang="es-MX" sz="1200" dirty="0"/>
              <a:t>Es la diferencia de potencial eléctrico entre dos puntos. En el circuito, el voltaje que se aplica al LED proviene del pin del ESP32 (normalmente 3.3V).</a:t>
            </a:r>
          </a:p>
          <a:p>
            <a:endParaRPr lang="es-MX" sz="1200" dirty="0"/>
          </a:p>
          <a:p>
            <a:r>
              <a:rPr lang="es-MX" sz="1200" b="1" dirty="0"/>
              <a:t>Corriente (A): </a:t>
            </a:r>
            <a:r>
              <a:rPr lang="es-MX" sz="1200" dirty="0"/>
              <a:t>Es el flujo de electrones a través de un conductor. En este caso, la corriente fluye desde el pin de salida del ESP32 a través del LED y la resistencia..</a:t>
            </a:r>
          </a:p>
          <a:p>
            <a:endParaRPr lang="es-MX" sz="1200" dirty="0"/>
          </a:p>
          <a:p>
            <a:r>
              <a:rPr lang="es-MX" sz="1200" b="1" dirty="0"/>
              <a:t>Resistencia (Ω): </a:t>
            </a:r>
            <a:r>
              <a:rPr lang="es-MX" sz="1200" dirty="0"/>
              <a:t>Es la oposición al paso de la corriente eléctrica. En el código del </a:t>
            </a:r>
            <a:r>
              <a:rPr lang="es-MX" sz="1200" dirty="0" err="1"/>
              <a:t>blink</a:t>
            </a:r>
            <a:r>
              <a:rPr lang="es-MX" sz="1200" dirty="0"/>
              <a:t>, la resistencia de 330Ω limita la cantidad de corriente que puede pasar a través del LED para evitar dañarlo.</a:t>
            </a:r>
          </a:p>
          <a:p>
            <a:endParaRPr lang="es-MX" sz="1200" dirty="0"/>
          </a:p>
          <a:p>
            <a:endParaRPr lang="es-MX" sz="1200" dirty="0"/>
          </a:p>
          <a:p>
            <a:r>
              <a:rPr lang="es-MX" sz="1200" b="1" dirty="0"/>
              <a:t>Nota:</a:t>
            </a:r>
            <a:r>
              <a:rPr lang="es-MX" sz="1100" b="1" i="1" dirty="0"/>
              <a:t> </a:t>
            </a:r>
            <a:r>
              <a:rPr lang="es-MX" sz="1100" i="1" dirty="0"/>
              <a:t>El LED tiene una característica que permite que la corriente fluya solo en una dirección, y requiere un voltaje mínimo para encenderse</a:t>
            </a:r>
            <a:r>
              <a:rPr lang="es-MX" sz="1200" dirty="0"/>
              <a:t>.</a:t>
            </a:r>
          </a:p>
          <a:p>
            <a:endParaRPr lang="es-MX" sz="1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734322-B6BA-B984-3DA2-3DEDD10FD2E3}"/>
              </a:ext>
            </a:extLst>
          </p:cNvPr>
          <p:cNvSpPr txBox="1"/>
          <p:nvPr/>
        </p:nvSpPr>
        <p:spPr>
          <a:xfrm>
            <a:off x="4551495" y="1344760"/>
            <a:ext cx="397221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Relación con el Código </a:t>
            </a:r>
            <a:r>
              <a:rPr lang="es-MX" b="1" dirty="0" err="1"/>
              <a:t>Blink</a:t>
            </a:r>
            <a:r>
              <a:rPr lang="es-MX" b="1" dirty="0"/>
              <a:t>:</a:t>
            </a:r>
          </a:p>
          <a:p>
            <a:endParaRPr lang="es-MX" sz="1200" b="1" dirty="0"/>
          </a:p>
          <a:p>
            <a:r>
              <a:rPr lang="es-MX" sz="1200" dirty="0"/>
              <a:t>Cuando el código enciende el pin del ESP32 (con </a:t>
            </a:r>
            <a:r>
              <a:rPr lang="es-MX" sz="1200" dirty="0" err="1"/>
              <a:t>led.on</a:t>
            </a:r>
            <a:r>
              <a:rPr lang="es-MX" sz="1200" dirty="0"/>
              <a:t>()), se aplica un voltaje de 3.3V al LED.</a:t>
            </a:r>
          </a:p>
          <a:p>
            <a:endParaRPr lang="es-MX" sz="1200" dirty="0"/>
          </a:p>
          <a:p>
            <a:r>
              <a:rPr lang="es-MX" sz="1200" dirty="0"/>
              <a:t>La corriente de 10mA fluye a través del LED debido a la resistencia de 330Ω, asegurando que el LED no se queme por exceso de corriente.</a:t>
            </a:r>
          </a:p>
          <a:p>
            <a:endParaRPr lang="es-MX" sz="1200" dirty="0"/>
          </a:p>
          <a:p>
            <a:r>
              <a:rPr lang="es-MX" sz="1200" dirty="0"/>
              <a:t>Al apagar el pin del ESP32 (con </a:t>
            </a:r>
            <a:r>
              <a:rPr lang="es-MX" sz="1200" dirty="0" err="1"/>
              <a:t>led.off</a:t>
            </a:r>
            <a:r>
              <a:rPr lang="es-MX" sz="1200" dirty="0"/>
              <a:t>()), el voltaje cae a 0V, y la corriente deja de fluir, apagando el LED.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1A4F164-3457-A82B-6330-13CE0AB06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134" y="3748974"/>
            <a:ext cx="2099696" cy="84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54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22C2DF2-98C5-0339-FF0A-D5C84AC0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DC0DB5E-E15C-5E0D-B389-20CB1DF8CC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46FE0B0-1476-9611-BDFB-F4D026FA5B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3503006-2418-0668-357A-CC55A04629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C429678F-149B-8FB1-470F-AB897561AB80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63F32212-0E3C-81D6-03C4-69D4CA83A1AA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>
                <a:sym typeface="Calibri"/>
              </a:rPr>
              <a:t>Placa de Prototipaje (</a:t>
            </a:r>
            <a:r>
              <a:rPr lang="es-CL" dirty="0" err="1">
                <a:sym typeface="Calibri"/>
              </a:rPr>
              <a:t>protoboard</a:t>
            </a:r>
            <a:r>
              <a:rPr lang="es-CL" dirty="0">
                <a:sym typeface="Calibri"/>
              </a:rPr>
              <a:t> – </a:t>
            </a:r>
            <a:r>
              <a:rPr lang="es-CL" dirty="0" err="1">
                <a:sym typeface="Calibri"/>
              </a:rPr>
              <a:t>breadboard</a:t>
            </a:r>
            <a:r>
              <a:rPr lang="es-CL" dirty="0">
                <a:sym typeface="Calibri"/>
              </a:rPr>
              <a:t>) 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1552FA04-CECE-6C4E-A797-15BFABA92B4D}"/>
              </a:ext>
            </a:extLst>
          </p:cNvPr>
          <p:cNvSpPr txBox="1"/>
          <p:nvPr/>
        </p:nvSpPr>
        <p:spPr>
          <a:xfrm>
            <a:off x="330416" y="1359067"/>
            <a:ext cx="8692326" cy="341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s-MX" sz="1600" b="1" dirty="0"/>
              <a:t>¿Qué es la </a:t>
            </a:r>
            <a:r>
              <a:rPr lang="es-MX" sz="1600" b="1" dirty="0" err="1"/>
              <a:t>Protoboard</a:t>
            </a:r>
            <a:r>
              <a:rPr lang="es-MX" sz="1600" b="1" dirty="0"/>
              <a:t>?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ES" sz="1200" dirty="0"/>
              <a:t>Es una placa reutilizable usada para construir prototipos de circuitos electrónicos sin</a:t>
            </a:r>
          </a:p>
          <a:p>
            <a:pPr>
              <a:buNone/>
            </a:pPr>
            <a:r>
              <a:rPr lang="es-ES" sz="1200" dirty="0"/>
              <a:t>soldadura. Compuestas por bloques de plástico perforados y numerosas láminas</a:t>
            </a:r>
          </a:p>
          <a:p>
            <a:pPr>
              <a:buNone/>
            </a:pPr>
            <a:r>
              <a:rPr lang="es-ES" sz="1200" dirty="0"/>
              <a:t>delgadas de una aleación de cobre, estaño y fósforo</a:t>
            </a:r>
          </a:p>
          <a:p>
            <a:pPr>
              <a:buNone/>
            </a:pPr>
            <a:endParaRPr lang="es-ES" sz="1600" dirty="0"/>
          </a:p>
          <a:p>
            <a:pPr>
              <a:buNone/>
            </a:pPr>
            <a:endParaRPr lang="es-MX" dirty="0"/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68CEBE0-0CB4-3896-A91F-1F5E4ECE1AD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6C23CC5-25E7-8A36-F068-5044D4E5D00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FBCC257-1388-67CA-8478-F9A1FEEF538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EEB3C97-CC65-117D-9C54-95A808BB6C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8778" y="2571750"/>
            <a:ext cx="4841599" cy="20003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BD5C59F-3910-E259-B97E-41904EDA3F85}"/>
              </a:ext>
            </a:extLst>
          </p:cNvPr>
          <p:cNvSpPr txBox="1"/>
          <p:nvPr/>
        </p:nvSpPr>
        <p:spPr>
          <a:xfrm>
            <a:off x="296678" y="2702356"/>
            <a:ext cx="31803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📌 </a:t>
            </a:r>
            <a:r>
              <a:rPr lang="es-MX" sz="1400" b="1" dirty="0"/>
              <a:t>¿Para qué sirve?</a:t>
            </a:r>
          </a:p>
          <a:p>
            <a:br>
              <a:rPr lang="es-MX" sz="1400" dirty="0"/>
            </a:br>
            <a:r>
              <a:rPr lang="es-MX" sz="1400" dirty="0"/>
              <a:t>✔ Permite hacer </a:t>
            </a:r>
            <a:r>
              <a:rPr lang="es-MX" sz="1400" b="1" dirty="0"/>
              <a:t>circuitos sin necesidad de soldar</a:t>
            </a:r>
            <a:r>
              <a:rPr lang="es-MX" sz="1400" dirty="0"/>
              <a:t>.</a:t>
            </a:r>
            <a:br>
              <a:rPr lang="es-MX" sz="1400" dirty="0"/>
            </a:br>
            <a:endParaRPr lang="es-MX" sz="1400" dirty="0"/>
          </a:p>
          <a:p>
            <a:r>
              <a:rPr lang="es-MX" sz="1400" dirty="0"/>
              <a:t>✔ Tiene </a:t>
            </a:r>
            <a:r>
              <a:rPr lang="es-MX" sz="1400" b="1" dirty="0"/>
              <a:t>líneas de alimentación</a:t>
            </a:r>
            <a:r>
              <a:rPr lang="es-MX" sz="1400" dirty="0"/>
              <a:t> (+ y -) y </a:t>
            </a:r>
            <a:r>
              <a:rPr lang="es-MX" sz="1400" b="1" dirty="0"/>
              <a:t>columnas de conexión</a:t>
            </a:r>
            <a:r>
              <a:rPr lang="es-MX" sz="1400" dirty="0"/>
              <a:t>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40093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9A0BE0B-1BBB-74B9-993C-E7DD4C0C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064A186-9994-FDF7-715E-D4439C83EB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5C44AC7-40FE-5D31-1EB2-B52F32A72E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8C32F42-7EB7-1BD2-0529-BB6F173F47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5E5844C1-A5FA-C88E-AAC2-DBB972FED62D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8EFD8A66-D395-EA1C-ED1E-0108396DCDEA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>
                <a:sym typeface="Calibri"/>
              </a:rPr>
              <a:t>Placa de Prototipaje (</a:t>
            </a:r>
            <a:r>
              <a:rPr lang="es-CL" dirty="0" err="1">
                <a:sym typeface="Calibri"/>
              </a:rPr>
              <a:t>protoboard</a:t>
            </a:r>
            <a:r>
              <a:rPr lang="es-CL" dirty="0">
                <a:sym typeface="Calibri"/>
              </a:rPr>
              <a:t> – </a:t>
            </a:r>
            <a:r>
              <a:rPr lang="es-CL" dirty="0" err="1">
                <a:sym typeface="Calibri"/>
              </a:rPr>
              <a:t>breadboard</a:t>
            </a:r>
            <a:r>
              <a:rPr lang="es-CL" dirty="0">
                <a:sym typeface="Calibri"/>
              </a:rPr>
              <a:t>) 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ECBF75FD-1A0E-EC7B-7296-FD5FF46FFF1F}"/>
              </a:ext>
            </a:extLst>
          </p:cNvPr>
          <p:cNvSpPr txBox="1"/>
          <p:nvPr/>
        </p:nvSpPr>
        <p:spPr>
          <a:xfrm>
            <a:off x="730092" y="1460243"/>
            <a:ext cx="3696461" cy="341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sz="2000" dirty="0"/>
              <a:t>📌 </a:t>
            </a:r>
            <a:r>
              <a:rPr lang="es-MX" sz="2000" b="1" dirty="0"/>
              <a:t>Cómo conectar un LED en la </a:t>
            </a:r>
            <a:r>
              <a:rPr lang="es-MX" sz="2000" b="1" dirty="0" err="1"/>
              <a:t>protoboard</a:t>
            </a:r>
            <a:r>
              <a:rPr lang="es-MX" sz="2000" b="1" dirty="0"/>
              <a:t>:</a:t>
            </a:r>
            <a:br>
              <a:rPr lang="es-MX" sz="2000" dirty="0"/>
            </a:br>
            <a:endParaRPr lang="es-MX" sz="2000" dirty="0"/>
          </a:p>
          <a:p>
            <a:pPr>
              <a:buNone/>
            </a:pPr>
            <a:r>
              <a:rPr lang="es-MX" sz="2000" dirty="0"/>
              <a:t>✔ </a:t>
            </a:r>
            <a:r>
              <a:rPr lang="es-MX" sz="2000" b="1" dirty="0"/>
              <a:t>Ánodo (+):</a:t>
            </a:r>
            <a:r>
              <a:rPr lang="es-MX" sz="2000" dirty="0"/>
              <a:t> Conectado a una resistencia y luego a un pin de la ESP32.</a:t>
            </a:r>
            <a:br>
              <a:rPr lang="es-MX" sz="2000" dirty="0"/>
            </a:br>
            <a:r>
              <a:rPr lang="es-MX" sz="2000" dirty="0"/>
              <a:t>✔ </a:t>
            </a:r>
            <a:r>
              <a:rPr lang="es-MX" sz="2000" b="1" dirty="0"/>
              <a:t>Cátodo (-):</a:t>
            </a:r>
            <a:r>
              <a:rPr lang="es-MX" sz="2000" dirty="0"/>
              <a:t> Conectado a </a:t>
            </a:r>
            <a:r>
              <a:rPr lang="es-MX" sz="2000" b="1" dirty="0"/>
              <a:t>GND</a:t>
            </a:r>
            <a:r>
              <a:rPr lang="es-MX" sz="2000" dirty="0"/>
              <a:t>.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CDB2E70-060C-60D7-96C7-7375FB1F08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7C947F0-BAFB-9345-1233-B46D24409CF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DB19511-92D1-722C-98A3-C2F6F117A69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62C88EF6-9CA0-4839-1B35-1D3E990EB0C8}"/>
              </a:ext>
            </a:extLst>
          </p:cNvPr>
          <p:cNvSpPr txBox="1"/>
          <p:nvPr/>
        </p:nvSpPr>
        <p:spPr>
          <a:xfrm>
            <a:off x="4850603" y="4468081"/>
            <a:ext cx="3914191" cy="56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MX" sz="1200" dirty="0"/>
              <a:t>🔍 Imagen explicativa de una </a:t>
            </a:r>
            <a:r>
              <a:rPr lang="es-MX" sz="1200" dirty="0" err="1"/>
              <a:t>protoboard</a:t>
            </a:r>
            <a:r>
              <a:rPr lang="es-MX" sz="1200" dirty="0"/>
              <a:t> con ESP32 y un LED.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247231-1C8C-EF99-BEA6-EF9BBD6783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3781" y="1367482"/>
            <a:ext cx="2652268" cy="301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9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E129507-E5CE-0F53-EBA0-6021F87C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8F60DBA-8342-DD95-7B9F-6997935A13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3A3DDEB-BC44-8D4E-367A-7983491D90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9363046-7291-3CFA-4E9F-A901F9E7A5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102DF2CB-A887-A2EF-4E05-67586644A522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3770A843-6CF7-6C46-1B0E-8B6F49032700}"/>
              </a:ext>
            </a:extLst>
          </p:cNvPr>
          <p:cNvSpPr txBox="1"/>
          <p:nvPr/>
        </p:nvSpPr>
        <p:spPr>
          <a:xfrm>
            <a:off x="414066" y="664162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CL" dirty="0">
                <a:sym typeface="Calibri"/>
              </a:rPr>
              <a:t>Ejercicio utilizando la placa de prototipaje</a:t>
            </a:r>
            <a:endParaRPr dirty="0">
              <a:sym typeface="Calibri"/>
            </a:endParaRPr>
          </a:p>
        </p:txBody>
      </p:sp>
      <p:sp>
        <p:nvSpPr>
          <p:cNvPr id="14" name="Google Shape;158;p6">
            <a:extLst>
              <a:ext uri="{FF2B5EF4-FFF2-40B4-BE49-F238E27FC236}">
                <a16:creationId xmlns:a16="http://schemas.microsoft.com/office/drawing/2014/main" id="{E9659650-56F8-E895-9520-39A72EB2D314}"/>
              </a:ext>
            </a:extLst>
          </p:cNvPr>
          <p:cNvSpPr txBox="1"/>
          <p:nvPr/>
        </p:nvSpPr>
        <p:spPr>
          <a:xfrm>
            <a:off x="487854" y="1699755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Añadir un segundo led  a la protoboard y hacer que parpadeen de forma intercalada, es decir , mientras el primer led este encendido el segundo led debe estar apagado, y cuando se apague el primero el segundo debe estar encendido.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Anadir un tercer led y generar la secuencia de un semáforo. El led rojo debe estar encendido por 5 segundos, el led amarillo por 1 segundo y el led verde por 3 segundos todo esto de forma cíclica.</a:t>
            </a:r>
            <a:endParaRPr sz="1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D7B19E7-C716-1E71-1CA1-A190B63DFEF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40D890B-0B4D-AC3A-CF01-85CF7401E85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DFE8B68-D81F-4318-F304-0803C88D697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B59231E-389F-1160-1672-EE72394E6A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282" y="1247505"/>
            <a:ext cx="1904690" cy="17479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61E883-FD5D-EAFB-F94B-36E27CC6FD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5691" y="3120790"/>
            <a:ext cx="1904690" cy="185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26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8C72755-A62D-B206-B305-A9341902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1868579-B3B4-6532-BA3F-DCCBCBECAB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3164039-00C7-1BC8-1D5D-9C93AD042E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BF2F178-D0DC-3F65-099B-512AE8F60C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F15B9886-D85D-4AA5-87C0-99E12799824E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8FFE7272-AEEE-AAF0-2322-B5FBD9147A5C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Pines disponibles para usarse como entradas y salidas digitales y análogas.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AAB2456-C91F-7D7B-10AC-95298957744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61BDFF4-DD2D-68C1-F768-EE8310D8D1A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D8C0E1D-242A-0BD0-3399-5FD15334459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490EC54-B49B-5EE0-AD3B-35C8BF764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108372"/>
              </p:ext>
            </p:extLst>
          </p:nvPr>
        </p:nvGraphicFramePr>
        <p:xfrm>
          <a:off x="317293" y="1436370"/>
          <a:ext cx="3091707" cy="2402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925">
                  <a:extLst>
                    <a:ext uri="{9D8B030D-6E8A-4147-A177-3AD203B41FA5}">
                      <a16:colId xmlns:a16="http://schemas.microsoft.com/office/drawing/2014/main" val="2811744617"/>
                    </a:ext>
                  </a:extLst>
                </a:gridCol>
                <a:gridCol w="2003782">
                  <a:extLst>
                    <a:ext uri="{9D8B030D-6E8A-4147-A177-3AD203B41FA5}">
                      <a16:colId xmlns:a16="http://schemas.microsoft.com/office/drawing/2014/main" val="2706177718"/>
                    </a:ext>
                  </a:extLst>
                </a:gridCol>
              </a:tblGrid>
              <a:tr h="410777">
                <a:tc>
                  <a:txBody>
                    <a:bodyPr/>
                    <a:lstStyle/>
                    <a:p>
                      <a:r>
                        <a:rPr lang="es-CL" sz="14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Pines sugeridos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135030"/>
                  </a:ext>
                </a:extLst>
              </a:tr>
              <a:tr h="607725">
                <a:tc>
                  <a:txBody>
                    <a:bodyPr/>
                    <a:lstStyle/>
                    <a:p>
                      <a:r>
                        <a:rPr lang="es-CL" sz="1000" dirty="0"/>
                        <a:t>Entrada/Salida digital segura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00" dirty="0"/>
                        <a:t>GPIO 4, 5, 12*, 13, 14, 15*, 16, 17, 18, 19, 21, 22, 23, 25, 26, 27, 32, 33</a:t>
                      </a:r>
                      <a:endParaRPr lang="es-C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14857"/>
                  </a:ext>
                </a:extLst>
              </a:tr>
              <a:tr h="607725">
                <a:tc>
                  <a:txBody>
                    <a:bodyPr/>
                    <a:lstStyle/>
                    <a:p>
                      <a:r>
                        <a:rPr lang="es-CL" sz="1000" dirty="0"/>
                        <a:t>Entrada analógica recomendada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000"/>
                        <a:t>GPIO 32,39 </a:t>
                      </a:r>
                      <a:r>
                        <a:rPr lang="es-CL" sz="1000" dirty="0"/>
                        <a:t>(ADC1)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20152"/>
                  </a:ext>
                </a:extLst>
              </a:tr>
              <a:tr h="776538">
                <a:tc>
                  <a:txBody>
                    <a:bodyPr/>
                    <a:lstStyle/>
                    <a:p>
                      <a:r>
                        <a:rPr lang="es-CL" sz="1000" dirty="0"/>
                        <a:t>Salida analógica (DAC)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000" dirty="0"/>
                        <a:t>GPIO 25, 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071967"/>
                  </a:ext>
                </a:extLst>
              </a:tr>
            </a:tbl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87D7E156-0FED-3511-5ADC-1A4E915CC7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6171" y="931864"/>
            <a:ext cx="5506571" cy="298272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3DEFF62-66E0-8F0A-161B-74FC875A6F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6171" y="4078823"/>
            <a:ext cx="5506571" cy="64688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38DE1B61-F6E2-3864-5087-C170FEBA6422}"/>
              </a:ext>
            </a:extLst>
          </p:cNvPr>
          <p:cNvSpPr txBox="1"/>
          <p:nvPr/>
        </p:nvSpPr>
        <p:spPr>
          <a:xfrm>
            <a:off x="330416" y="4074643"/>
            <a:ext cx="2782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Los pines GPIO 12 y 15 deben usarse con precaución porque afectan el arranque del ESP32 si tienen niveles lógicos incorrectos al encender.</a:t>
            </a:r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1009196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9044769-FBE6-0ED3-C85A-8B71B108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A8F085B-73FF-1CA2-3120-972EE741B3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B14CA1E-230C-965B-7D8A-07819E0A09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1C5FE4D-368B-5555-8B89-04DB681E5A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E697B477-170D-FC1C-D436-79BDD54BB817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19E0643A-A842-E89A-B9C7-F0F5ED6C32BC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Pines disponibles para usarse como entradas y salidas digitales y análogas. (ESP8266)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23A1B72-327C-7BA1-9BA8-83294C48AF1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0D5CA24-DBA7-5EDF-CCB3-CB2CF840778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92F135-2CD9-FAC1-E714-9A6E4BA1C23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D8C434E-9CEE-F399-93D0-81D0F4151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666471"/>
              </p:ext>
            </p:extLst>
          </p:nvPr>
        </p:nvGraphicFramePr>
        <p:xfrm>
          <a:off x="317293" y="1436370"/>
          <a:ext cx="3091707" cy="2402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583">
                  <a:extLst>
                    <a:ext uri="{9D8B030D-6E8A-4147-A177-3AD203B41FA5}">
                      <a16:colId xmlns:a16="http://schemas.microsoft.com/office/drawing/2014/main" val="2811744617"/>
                    </a:ext>
                  </a:extLst>
                </a:gridCol>
                <a:gridCol w="2044124">
                  <a:extLst>
                    <a:ext uri="{9D8B030D-6E8A-4147-A177-3AD203B41FA5}">
                      <a16:colId xmlns:a16="http://schemas.microsoft.com/office/drawing/2014/main" val="2706177718"/>
                    </a:ext>
                  </a:extLst>
                </a:gridCol>
              </a:tblGrid>
              <a:tr h="410777">
                <a:tc>
                  <a:txBody>
                    <a:bodyPr/>
                    <a:lstStyle/>
                    <a:p>
                      <a:r>
                        <a:rPr lang="es-CL" sz="14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Pines sugeridos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135030"/>
                  </a:ext>
                </a:extLst>
              </a:tr>
              <a:tr h="607725">
                <a:tc>
                  <a:txBody>
                    <a:bodyPr/>
                    <a:lstStyle/>
                    <a:p>
                      <a:r>
                        <a:rPr lang="es-CL" sz="1000" dirty="0"/>
                        <a:t>Entrada/Salida digital segura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00" dirty="0"/>
                        <a:t>GPIO 4, 5, 12*, 13, 14, 9, 10</a:t>
                      </a:r>
                      <a:endParaRPr lang="es-C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14857"/>
                  </a:ext>
                </a:extLst>
              </a:tr>
              <a:tr h="607725">
                <a:tc>
                  <a:txBody>
                    <a:bodyPr/>
                    <a:lstStyle/>
                    <a:p>
                      <a:r>
                        <a:rPr lang="es-CL" sz="1000" dirty="0"/>
                        <a:t>Entrada analógica recomendada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000" dirty="0"/>
                        <a:t>A0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20152"/>
                  </a:ext>
                </a:extLst>
              </a:tr>
              <a:tr h="776538">
                <a:tc>
                  <a:txBody>
                    <a:bodyPr/>
                    <a:lstStyle/>
                    <a:p>
                      <a:r>
                        <a:rPr lang="es-CL" sz="1000" dirty="0"/>
                        <a:t>Salida analógica (DAC)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000" dirty="0">
                          <a:sym typeface="Wingdings" panose="05000000000000000000" pitchFamily="2" charset="2"/>
                        </a:rPr>
                        <a:t></a:t>
                      </a:r>
                      <a:endParaRPr lang="es-C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071967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4511AA7B-3E7A-C7E9-7982-FF416015F6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8148" y="1219705"/>
            <a:ext cx="4379294" cy="313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35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CD1024C-6379-29CE-2A86-232F6C5F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90CD09E-F40C-9A60-C163-3A86D98382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BEEB407-034E-F4EB-D516-03A7702C86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6454EFC-B448-C7BB-E756-775EAABA52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248BD9B0-F945-C9CC-D75C-AC5BAF4C19E4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D7A83DDB-086D-5A1B-BF31-9BD1B4EE69D4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Pines disponibles para usarse como entradas y salidas digitales y análogas (</a:t>
            </a:r>
            <a:r>
              <a:rPr lang="es-ES" b="1" dirty="0" err="1"/>
              <a:t>raspberry</a:t>
            </a:r>
            <a:r>
              <a:rPr lang="es-ES" b="1" dirty="0"/>
              <a:t>).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FA3A0B3-29A7-61CA-FF93-EBA5C75E3D8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8D6E49B-5471-11DD-9F34-424D188E244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42517BA-0296-1870-DCA0-95C19429805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401ED8D-7692-0516-9D29-BBCE64E99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68030"/>
              </p:ext>
            </p:extLst>
          </p:nvPr>
        </p:nvGraphicFramePr>
        <p:xfrm>
          <a:off x="317293" y="1436370"/>
          <a:ext cx="3091707" cy="2402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242">
                  <a:extLst>
                    <a:ext uri="{9D8B030D-6E8A-4147-A177-3AD203B41FA5}">
                      <a16:colId xmlns:a16="http://schemas.microsoft.com/office/drawing/2014/main" val="2811744617"/>
                    </a:ext>
                  </a:extLst>
                </a:gridCol>
                <a:gridCol w="2084465">
                  <a:extLst>
                    <a:ext uri="{9D8B030D-6E8A-4147-A177-3AD203B41FA5}">
                      <a16:colId xmlns:a16="http://schemas.microsoft.com/office/drawing/2014/main" val="2706177718"/>
                    </a:ext>
                  </a:extLst>
                </a:gridCol>
              </a:tblGrid>
              <a:tr h="410777">
                <a:tc>
                  <a:txBody>
                    <a:bodyPr/>
                    <a:lstStyle/>
                    <a:p>
                      <a:r>
                        <a:rPr lang="es-CL" sz="14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/>
                        <a:t>Pines sugeridos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135030"/>
                  </a:ext>
                </a:extLst>
              </a:tr>
              <a:tr h="607725">
                <a:tc>
                  <a:txBody>
                    <a:bodyPr/>
                    <a:lstStyle/>
                    <a:p>
                      <a:r>
                        <a:rPr lang="es-CL" sz="1000" dirty="0"/>
                        <a:t>Entrada/Salida digital segura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00" dirty="0"/>
                        <a:t>GPIO 0 al 22 y del 26 al 28 </a:t>
                      </a:r>
                      <a:endParaRPr lang="es-C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14857"/>
                  </a:ext>
                </a:extLst>
              </a:tr>
              <a:tr h="607725">
                <a:tc>
                  <a:txBody>
                    <a:bodyPr/>
                    <a:lstStyle/>
                    <a:p>
                      <a:r>
                        <a:rPr lang="es-CL" sz="1000" dirty="0"/>
                        <a:t>Entrada analógica recomendada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000" dirty="0"/>
                        <a:t>GPIO 26, 27, 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20152"/>
                  </a:ext>
                </a:extLst>
              </a:tr>
              <a:tr h="776538">
                <a:tc>
                  <a:txBody>
                    <a:bodyPr/>
                    <a:lstStyle/>
                    <a:p>
                      <a:r>
                        <a:rPr lang="es-CL" sz="1000" dirty="0"/>
                        <a:t>Salida analógica (DAC)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00" dirty="0">
                          <a:sym typeface="Wingdings" panose="05000000000000000000" pitchFamily="2" charset="2"/>
                        </a:rPr>
                        <a:t></a:t>
                      </a:r>
                      <a:endParaRPr lang="es-C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071967"/>
                  </a:ext>
                </a:extLst>
              </a:tr>
            </a:tbl>
          </a:graphicData>
        </a:graphic>
      </p:graphicFrame>
      <p:pic>
        <p:nvPicPr>
          <p:cNvPr id="1026" name="Picture 2" descr="Raspberry_pi_pico_w_pinout">
            <a:extLst>
              <a:ext uri="{FF2B5EF4-FFF2-40B4-BE49-F238E27FC236}">
                <a16:creationId xmlns:a16="http://schemas.microsoft.com/office/drawing/2014/main" id="{911ABAE4-6371-7EC1-D84E-37943065E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056" y="1177500"/>
            <a:ext cx="5089712" cy="286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859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30AEA43-6564-230A-569A-63B64A81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4FFF50F-BC44-345A-FCC3-F7D9DD5589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496AFC5-D178-9A72-B3DA-2EC966C1D7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3DDF20C-0AD1-DEBE-4814-8FF51DB8BA9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C249EDA1-65B9-4EE0-75EE-302E7B594686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C8C7A4DA-25F3-2449-9D49-CDF6B20C4246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¿Dónde y como se usa esta tecnología hoy?.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E4528CA-029C-F8F2-68D2-08F5C87296F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631952A-D46F-C53A-F24B-478BC948BAC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0172D5A-D8B3-00A0-C404-51B3DE5F1B1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pic>
        <p:nvPicPr>
          <p:cNvPr id="4098" name="Picture 2" descr="Los mejores proyectos para hacer con una Raspberry Pi">
            <a:extLst>
              <a:ext uri="{FF2B5EF4-FFF2-40B4-BE49-F238E27FC236}">
                <a16:creationId xmlns:a16="http://schemas.microsoft.com/office/drawing/2014/main" id="{453E1847-BAE3-B30B-2D92-8BCBDD605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55" y="1059543"/>
            <a:ext cx="295275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íldoras MCPRO (XXXVII): Raspberry Pi, proyecto ICARUS, Acuerdo ...">
            <a:extLst>
              <a:ext uri="{FF2B5EF4-FFF2-40B4-BE49-F238E27FC236}">
                <a16:creationId xmlns:a16="http://schemas.microsoft.com/office/drawing/2014/main" id="{C98DC858-0062-D511-90B7-1485676ED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445" y="1046170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os mejores proyectos para novatos con Raspberry Pi">
            <a:extLst>
              <a:ext uri="{FF2B5EF4-FFF2-40B4-BE49-F238E27FC236}">
                <a16:creationId xmlns:a16="http://schemas.microsoft.com/office/drawing/2014/main" id="{8CA4F587-C35E-43CC-9138-B8C24DAB2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514" y="2690147"/>
            <a:ext cx="3185886" cy="238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973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0E94F83-9FB8-CDD4-A97C-4497BE55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9920E28-5435-6C60-D3C1-C28E61DEB2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69EBFD1-B405-D039-F841-C40393971F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02B1322-3AFA-4E90-674E-388CC42F9B1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0AB0415D-7751-657B-F5F1-6CC01EB7EB1B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58FF7688-731F-D05E-1909-82651055401B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¿Dónde y como se usa esta tecnología hoy?.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A1446D-3FD8-1545-D1DE-152301E13F4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32534C8-8EFA-CBF9-A6AB-6D16219F9A1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14132B4-A7DC-9851-3376-228142574AB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pic>
        <p:nvPicPr>
          <p:cNvPr id="5122" name="Picture 2" descr="Satélite basado en Arduino fue lanzado al espacio - Social Geek">
            <a:extLst>
              <a:ext uri="{FF2B5EF4-FFF2-40B4-BE49-F238E27FC236}">
                <a16:creationId xmlns:a16="http://schemas.microsoft.com/office/drawing/2014/main" id="{1F598C20-6F27-6CCD-EB14-08A7F4641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16" y="1562827"/>
            <a:ext cx="3422348" cy="256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A0AAF856-6E82-5F61-3987-03EA52429A00}"/>
              </a:ext>
            </a:extLst>
          </p:cNvPr>
          <p:cNvSpPr txBox="1"/>
          <p:nvPr/>
        </p:nvSpPr>
        <p:spPr>
          <a:xfrm>
            <a:off x="4850603" y="1642765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</a:t>
            </a: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esta es una placa </a:t>
            </a:r>
            <a:r>
              <a:rPr lang="es-E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Arduino</a:t>
            </a: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en un proyecto para realizar un satélite de bajo costo, no es exactamente lo mismo que estamos viendo, pero es muy similar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4056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1C23F0A-1C4B-8081-65F6-D63A03B9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C396C41-1A09-ECB4-EEA7-02BCBB409B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ADC649E-B40C-37E1-EE57-1A3252C1B8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EB27C0E-F074-5AE0-7E7E-BEF30014FD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D36795F8-BD11-C901-8FEA-45EEAD9C6A74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222A04B4-6238-C52D-B1ED-09D6D41EE41B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Existen versiones industriales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9C795AE-6E35-6AD4-4E11-B484C368B99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04AFCE8-ED57-65EA-5A43-C03AEBC3D39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702BD5F-44A9-28D5-995A-F00D3B7B417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A7F0D93-7CA9-2EDB-9DDE-6E7F61C108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010" y="1642765"/>
            <a:ext cx="3872449" cy="2937171"/>
          </a:xfrm>
          <a:prstGeom prst="rect">
            <a:avLst/>
          </a:prstGeom>
        </p:spPr>
      </p:pic>
      <p:sp>
        <p:nvSpPr>
          <p:cNvPr id="4" name="Google Shape;158;p6">
            <a:extLst>
              <a:ext uri="{FF2B5EF4-FFF2-40B4-BE49-F238E27FC236}">
                <a16:creationId xmlns:a16="http://schemas.microsoft.com/office/drawing/2014/main" id="{744EFBFE-2E5E-AC99-2937-5AEA3CDEEBA8}"/>
              </a:ext>
            </a:extLst>
          </p:cNvPr>
          <p:cNvSpPr txBox="1"/>
          <p:nvPr/>
        </p:nvSpPr>
        <p:spPr>
          <a:xfrm>
            <a:off x="4850603" y="1642765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términos de capacidades de procesamiento, en ocasiones no son diferentes, pero incluyen salidas más “accesibles” e incluyen rotulaciones para facilitar su uso.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E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Tienen certificaciones, de golpes, polvo y en algunos casos resistentes al agua o “</a:t>
            </a:r>
            <a:r>
              <a:rPr lang="es-ES" sz="140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antichispas</a:t>
            </a: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0971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504A36C-0E5A-78AD-3314-AF9C7040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78BAB9E-688E-93CA-4183-CEEA7BD6B1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A3EAE9A-3D8F-403B-FCBB-0892E9A68B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DE9AF56-90C5-03F6-B51E-6B1683CCA8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40677FC4-5584-1268-28AD-A288066C1530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0C14024F-D4E5-4E08-11CE-AC03DB09990E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Sensores.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7FADB2C-AECE-2BC1-6EE8-015DAEF7CC7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29F01A4-1399-4634-75CB-BC0A122E510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1E7E147-EAFF-2633-EF34-0F8D186ED69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1CB697F7-8D6F-569B-0D3C-06CA6DD3215D}"/>
              </a:ext>
            </a:extLst>
          </p:cNvPr>
          <p:cNvSpPr txBox="1"/>
          <p:nvPr/>
        </p:nvSpPr>
        <p:spPr>
          <a:xfrm>
            <a:off x="487854" y="1136694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s-ES" dirty="0">
                <a:solidFill>
                  <a:srgbClr val="202124"/>
                </a:solidFill>
              </a:rPr>
              <a:t>Los sensores utilizados en conjunto con la tecnología Arduino, nos posibilitan recepción de señales del mundo exterior. </a:t>
            </a:r>
          </a:p>
          <a:p>
            <a:pPr algn="just"/>
            <a:r>
              <a:rPr lang="es-ES" dirty="0">
                <a:solidFill>
                  <a:srgbClr val="202124"/>
                </a:solidFill>
              </a:rPr>
              <a:t>Técnicamente los sensores son dispositivos capaces de recibir una señal de una variable (temperatura, humedad, luz, tacto, fuerza, etc.) y transformarla en información para el Arduino, gracias a su circuito integrado.</a:t>
            </a:r>
          </a:p>
          <a:p>
            <a:pPr algn="just"/>
            <a:endParaRPr lang="es-ES" dirty="0">
              <a:solidFill>
                <a:srgbClr val="202124"/>
              </a:solidFill>
            </a:endParaRPr>
          </a:p>
          <a:p>
            <a:pPr algn="just"/>
            <a:r>
              <a:rPr lang="es-ES" dirty="0">
                <a:solidFill>
                  <a:srgbClr val="202124"/>
                </a:solidFill>
              </a:rPr>
              <a:t>Cuando esta señal es recibida por el microcontrolador, puede ser procesada la información como un valor digital y ser guardada en una variable a utilizar para programar ( por lo general la información es usada con los condicionales para tomar decisiones sobre los actuadores).</a:t>
            </a:r>
            <a:endParaRPr lang="es-CL" sz="1600" dirty="0"/>
          </a:p>
        </p:txBody>
      </p:sp>
      <p:pic>
        <p:nvPicPr>
          <p:cNvPr id="3" name="Picture 10" descr="Modulo Sensor de Luz para Arduino Fotosensible">
            <a:extLst>
              <a:ext uri="{FF2B5EF4-FFF2-40B4-BE49-F238E27FC236}">
                <a16:creationId xmlns:a16="http://schemas.microsoft.com/office/drawing/2014/main" id="{8695C19A-6C6F-5B79-4A47-42BB2BD13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89" r="89778">
                        <a14:foregroundMark x1="8889" y1="24889" x2="8889" y2="24889"/>
                        <a14:foregroundMark x1="12000" y1="21778" x2="12000" y2="21778"/>
                        <a14:foregroundMark x1="8889" y1="35111" x2="8889" y2="35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170" y="-9476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0DF625F-2D5E-C30A-DF87-49B8D7A6B4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1883" y="1417970"/>
            <a:ext cx="2143124" cy="21431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3AC00B2-94DF-94AA-ABBD-34AAFD59C7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53781" y="3371764"/>
            <a:ext cx="1803225" cy="154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10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604F6AC-5CC1-9E60-EFF3-C8BC6D19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23AAAF7-0E14-1133-4168-E523F8424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880" y="2442076"/>
            <a:ext cx="2015514" cy="2015514"/>
          </a:xfrm>
          <a:prstGeom prst="rect">
            <a:avLst/>
          </a:prstGeom>
        </p:spPr>
      </p:pic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72EE3AE-B3D8-1B8F-9252-D0D5E1AD89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2C21266-2A27-5DD3-7569-2F897A4A7A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1DF6606-0EA5-6D03-FECB-C5D586A90D8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ECA7B4C9-C117-041A-A370-64EBBE3FB804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509389C0-4FA1-A910-08D1-675E2691C525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Actuadores.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9FF99CE-2E96-B185-913D-208392C499F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40EE8D9-03EC-A012-0F9B-05F0FF8873E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BB92505-0201-BDC1-72BB-FD0A956D8E4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7344374A-1699-C6A8-9FC0-40E64ACEC64E}"/>
              </a:ext>
            </a:extLst>
          </p:cNvPr>
          <p:cNvSpPr txBox="1"/>
          <p:nvPr/>
        </p:nvSpPr>
        <p:spPr>
          <a:xfrm>
            <a:off x="159855" y="1032059"/>
            <a:ext cx="3914191" cy="25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i="0" dirty="0">
                <a:solidFill>
                  <a:srgbClr val="202124"/>
                </a:solidFill>
                <a:effectLst/>
              </a:rPr>
              <a:t>Los actuadores son todos aquellos dispositivos que</a:t>
            </a:r>
            <a:r>
              <a:rPr lang="es-ES" dirty="0">
                <a:solidFill>
                  <a:srgbClr val="202124"/>
                </a:solidFill>
              </a:rPr>
              <a:t> </a:t>
            </a:r>
            <a:r>
              <a:rPr lang="es-ES" i="0" dirty="0">
                <a:solidFill>
                  <a:srgbClr val="202124"/>
                </a:solidFill>
                <a:effectLst/>
              </a:rPr>
              <a:t>tienen la capacidad de transformar una magnitud eléctrica en una magnitud física.</a:t>
            </a:r>
          </a:p>
          <a:p>
            <a:endParaRPr lang="es-ES" i="0" dirty="0">
              <a:solidFill>
                <a:srgbClr val="202124"/>
              </a:solidFill>
              <a:effectLst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02124"/>
                </a:solidFill>
              </a:rPr>
              <a:t>P</a:t>
            </a:r>
            <a:r>
              <a:rPr lang="es-ES" sz="2000" i="0" dirty="0">
                <a:solidFill>
                  <a:srgbClr val="202124"/>
                </a:solidFill>
                <a:effectLst/>
              </a:rPr>
              <a:t>osición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02124"/>
                </a:solidFill>
              </a:rPr>
              <a:t>R</a:t>
            </a:r>
            <a:r>
              <a:rPr lang="es-ES" sz="2000" i="0" dirty="0">
                <a:solidFill>
                  <a:srgbClr val="202124"/>
                </a:solidFill>
                <a:effectLst/>
              </a:rPr>
              <a:t>otación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02124"/>
                </a:solidFill>
              </a:rPr>
              <a:t>Temperatura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rgbClr val="202124"/>
                </a:solidFill>
                <a:effectLst/>
              </a:rPr>
              <a:t>Etc.</a:t>
            </a:r>
            <a:endParaRPr lang="es-CL" sz="2000" dirty="0"/>
          </a:p>
        </p:txBody>
      </p:sp>
      <p:pic>
        <p:nvPicPr>
          <p:cNvPr id="3" name="Picture 2" descr="Tipos de actuadores lineales para proyectos de Arduino">
            <a:extLst>
              <a:ext uri="{FF2B5EF4-FFF2-40B4-BE49-F238E27FC236}">
                <a16:creationId xmlns:a16="http://schemas.microsoft.com/office/drawing/2014/main" id="{89D673C4-3257-778F-2F67-B406AD39E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151" y="1065047"/>
            <a:ext cx="4496929" cy="150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S PRO | Motor paso a paso RS PRO, 2,8 V, Ø de eje 5mm | 535-0401 | RS  Components">
            <a:extLst>
              <a:ext uri="{FF2B5EF4-FFF2-40B4-BE49-F238E27FC236}">
                <a16:creationId xmlns:a16="http://schemas.microsoft.com/office/drawing/2014/main" id="{C6D43799-E16A-E718-D34B-965AE0CF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44" y="3601379"/>
            <a:ext cx="2028054" cy="129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ervomotor SG90 Micro Servo Motor SG90 | Envío A Todo Chile">
            <a:extLst>
              <a:ext uri="{FF2B5EF4-FFF2-40B4-BE49-F238E27FC236}">
                <a16:creationId xmlns:a16="http://schemas.microsoft.com/office/drawing/2014/main" id="{30274754-A5AD-25E2-010E-62386E3B7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929" y="3016424"/>
            <a:ext cx="1719017" cy="171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816634-9E6B-393D-8F04-7F684BC833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7228" y="2697039"/>
            <a:ext cx="2015514" cy="150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88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3C7143D-7C87-8E80-2F25-F4050063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4AA5EB1-3A79-04F7-A35A-20AC544DC5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B13ACB0-878E-11F3-47FA-DDF8D3341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FC1474C-F605-E9C7-F935-C1DAB9FBECA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86311DAB-089C-DC8A-115E-6C608F0C69F5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94157991-4CB4-C1C1-F8AB-88DA57EC7F32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Configuración I.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59C5DA9-64E0-0AE0-8724-6785D6D6D76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6BF5CCD-2E6A-CEAA-1534-0A6F697ACCF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BFC8DEF-DD38-6997-F757-5E1AD329208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5736569-2490-0E9E-5059-C7D77BD9AE88}"/>
              </a:ext>
            </a:extLst>
          </p:cNvPr>
          <p:cNvSpPr txBox="1"/>
          <p:nvPr/>
        </p:nvSpPr>
        <p:spPr>
          <a:xfrm>
            <a:off x="5767054" y="1160308"/>
            <a:ext cx="1913780" cy="9541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L" dirty="0"/>
              <a:t>Para descargar </a:t>
            </a:r>
            <a:r>
              <a:rPr lang="es-CL" dirty="0" err="1"/>
              <a:t>thony</a:t>
            </a:r>
            <a:endParaRPr lang="es-CL" dirty="0"/>
          </a:p>
          <a:p>
            <a:r>
              <a:rPr lang="es-CL" dirty="0"/>
              <a:t>Ir a :</a:t>
            </a:r>
          </a:p>
          <a:p>
            <a:endParaRPr lang="es-CL" dirty="0"/>
          </a:p>
          <a:p>
            <a:r>
              <a:rPr lang="es-CL" dirty="0"/>
              <a:t>https://thonny.org/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360F25D-3595-2225-121D-D93E6FB10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855" y="1177500"/>
            <a:ext cx="3934867" cy="357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36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411E29D-89FD-AB16-D188-B4FE0680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5D515C8-B54A-41B1-EAEE-DD0CDDE637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294AE02-238B-0562-EF5F-4E2E0AE643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B2948CB-B517-740D-CB30-E6C173D546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E48F43AB-A4F7-F594-9D8B-599BD29C8E0C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64290036-9002-9255-C6F6-D619DF9083C9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Configuración II.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FEEBAEF-BCC2-34D4-3FA4-DBA33C3C11D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4A53E61-6EBB-9472-22C6-ECD72F99CAA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645D245-3848-13AE-32F0-5E1CE376C83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D70C7B6-3500-CDBF-5687-EF875DD226D2}"/>
              </a:ext>
            </a:extLst>
          </p:cNvPr>
          <p:cNvSpPr txBox="1"/>
          <p:nvPr/>
        </p:nvSpPr>
        <p:spPr>
          <a:xfrm>
            <a:off x="254396" y="1101330"/>
            <a:ext cx="2463281" cy="9233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dirty="0"/>
              <a:t>Ir al menú de </a:t>
            </a:r>
            <a:r>
              <a:rPr lang="es-ES" dirty="0" err="1"/>
              <a:t>tools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options</a:t>
            </a:r>
            <a:r>
              <a:rPr lang="es-ES" dirty="0">
                <a:sym typeface="Wingdings" panose="05000000000000000000" pitchFamily="2" charset="2"/>
              </a:rPr>
              <a:t> y configurar el “</a:t>
            </a:r>
            <a:r>
              <a:rPr lang="es-ES" dirty="0" err="1">
                <a:sym typeface="Wingdings" panose="05000000000000000000" pitchFamily="2" charset="2"/>
              </a:rPr>
              <a:t>interpreter</a:t>
            </a:r>
            <a:r>
              <a:rPr lang="es-ES" dirty="0">
                <a:sym typeface="Wingdings" panose="05000000000000000000" pitchFamily="2" charset="2"/>
              </a:rPr>
              <a:t>”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354D22-C741-F7C5-2A2D-B8E49074E0F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157" t="5306" r="6655" b="4761"/>
          <a:stretch/>
        </p:blipFill>
        <p:spPr>
          <a:xfrm>
            <a:off x="3601186" y="794404"/>
            <a:ext cx="4461377" cy="408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80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FBB2747-ABDD-B22F-81D0-241B1168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E1DE55A-EAA6-5FD2-253F-999E32417A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ED92ECE-72E3-FE32-DBB7-D424B87A5D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330416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95DF666-F95E-F4F1-5E7D-5F7DC06115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41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6;p6">
            <a:extLst>
              <a:ext uri="{FF2B5EF4-FFF2-40B4-BE49-F238E27FC236}">
                <a16:creationId xmlns:a16="http://schemas.microsoft.com/office/drawing/2014/main" id="{37BA9439-6931-85A6-848C-C00BA7AE40D1}"/>
              </a:ext>
            </a:extLst>
          </p:cNvPr>
          <p:cNvSpPr txBox="1"/>
          <p:nvPr/>
        </p:nvSpPr>
        <p:spPr>
          <a:xfrm>
            <a:off x="815853" y="637522"/>
            <a:ext cx="4237928" cy="46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13B"/>
              </a:buClr>
              <a:buSzPts val="280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57;p6">
            <a:extLst>
              <a:ext uri="{FF2B5EF4-FFF2-40B4-BE49-F238E27FC236}">
                <a16:creationId xmlns:a16="http://schemas.microsoft.com/office/drawing/2014/main" id="{16149E8B-748E-F3C6-96D8-7F5485822D99}"/>
              </a:ext>
            </a:extLst>
          </p:cNvPr>
          <p:cNvSpPr txBox="1"/>
          <p:nvPr/>
        </p:nvSpPr>
        <p:spPr>
          <a:xfrm>
            <a:off x="441189" y="408059"/>
            <a:ext cx="82616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2B313B"/>
              </a:buClr>
              <a:buSzPts val="2800"/>
              <a:buFont typeface="Calibri"/>
              <a:buNone/>
              <a:defRPr sz="2400" b="1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rPr lang="es-ES" b="1" dirty="0"/>
              <a:t>🧩 Configuración III (En caso de usar la ESP8266). </a:t>
            </a:r>
          </a:p>
        </p:txBody>
      </p:sp>
      <p:pic>
        <p:nvPicPr>
          <p:cNvPr id="18" name="Imagen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1DFD682-1C09-F969-94C9-DC55A296B37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5960" y="4844084"/>
            <a:ext cx="257948" cy="257948"/>
          </a:xfrm>
          <a:prstGeom prst="rect">
            <a:avLst/>
          </a:prstGeom>
        </p:spPr>
      </p:pic>
      <p:pic>
        <p:nvPicPr>
          <p:cNvPr id="19" name="Imagen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88B379-CE89-A615-3840-C34287D1754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77" y="4844084"/>
            <a:ext cx="257948" cy="257948"/>
          </a:xfrm>
          <a:prstGeom prst="rect">
            <a:avLst/>
          </a:prstGeom>
        </p:spPr>
      </p:pic>
      <p:pic>
        <p:nvPicPr>
          <p:cNvPr id="20" name="Imagen 1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8C7BEEC-4C70-323E-4A44-F968985BFC8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794" y="4844084"/>
            <a:ext cx="257948" cy="25794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2FC11BF-5D1D-D8D9-DC52-EB6D835CCB1A}"/>
              </a:ext>
            </a:extLst>
          </p:cNvPr>
          <p:cNvSpPr txBox="1"/>
          <p:nvPr/>
        </p:nvSpPr>
        <p:spPr>
          <a:xfrm>
            <a:off x="369080" y="879511"/>
            <a:ext cx="8220271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L" dirty="0"/>
              <a:t>En caso de que tengan que instalar el driver de su tarjeta, visitar:</a:t>
            </a:r>
          </a:p>
          <a:p>
            <a:endParaRPr lang="es-CL" dirty="0"/>
          </a:p>
          <a:p>
            <a:r>
              <a:rPr lang="es-CL" dirty="0"/>
              <a:t>https://www.silabs.com/developers/usb-to-uart-bridge-vcp-drivers?tab=downloads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98FFB3-730E-7BC6-07B8-8705412B46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291" y="2369804"/>
            <a:ext cx="6293977" cy="258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18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6">
            <a:hlinkClick r:id=""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7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>
            <a:hlinkClick r:id="" action="ppaction://hlinkshowjump?jump=firstslide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635" y="-2328"/>
            <a:ext cx="314876" cy="314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9C4BEC76-A4F9-314C-BBA9-09E068487D59}"/>
              </a:ext>
            </a:extLst>
          </p:cNvPr>
          <p:cNvGrpSpPr/>
          <p:nvPr/>
        </p:nvGrpSpPr>
        <p:grpSpPr>
          <a:xfrm>
            <a:off x="1223681" y="393230"/>
            <a:ext cx="5233180" cy="4600320"/>
            <a:chOff x="1223681" y="393230"/>
            <a:chExt cx="5233180" cy="4600320"/>
          </a:xfrm>
        </p:grpSpPr>
        <p:pic>
          <p:nvPicPr>
            <p:cNvPr id="138" name="Google Shape;138;p6"/>
            <p:cNvPicPr preferRelativeResize="0"/>
            <p:nvPr/>
          </p:nvPicPr>
          <p:blipFill rotWithShape="1">
            <a:blip r:embed="rId5">
              <a:alphaModFix/>
            </a:blip>
            <a:srcRect r="49109" b="17226"/>
            <a:stretch/>
          </p:blipFill>
          <p:spPr>
            <a:xfrm>
              <a:off x="1223681" y="393230"/>
              <a:ext cx="4653481" cy="4251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10" descr="Hacer Más | AdvanceUSS">
              <a:extLst>
                <a:ext uri="{FF2B5EF4-FFF2-40B4-BE49-F238E27FC236}">
                  <a16:creationId xmlns:a16="http://schemas.microsoft.com/office/drawing/2014/main" id="{0258638C-1A58-6F49-BA8B-D83B2E3630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304" y="4094472"/>
              <a:ext cx="3774557" cy="899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6fa666-1867-46a8-b2e5-5449f631b368">
      <Terms xmlns="http://schemas.microsoft.com/office/infopath/2007/PartnerControls"/>
    </lcf76f155ced4ddcb4097134ff3c332f>
    <TaxCatchAll xmlns="0b504c37-387d-4cef-8c68-4a37c9747f5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CBA5183A5C824297AECCA281A76BA5" ma:contentTypeVersion="15" ma:contentTypeDescription="Crear nuevo documento." ma:contentTypeScope="" ma:versionID="e406b3469adc99c569e624690e0c628b">
  <xsd:schema xmlns:xsd="http://www.w3.org/2001/XMLSchema" xmlns:xs="http://www.w3.org/2001/XMLSchema" xmlns:p="http://schemas.microsoft.com/office/2006/metadata/properties" xmlns:ns2="0c6fa666-1867-46a8-b2e5-5449f631b368" xmlns:ns3="0b504c37-387d-4cef-8c68-4a37c9747f54" targetNamespace="http://schemas.microsoft.com/office/2006/metadata/properties" ma:root="true" ma:fieldsID="d84edac1fff3ebbf65cb5bfd7440a86c" ns2:_="" ns3:_="">
    <xsd:import namespace="0c6fa666-1867-46a8-b2e5-5449f631b368"/>
    <xsd:import namespace="0b504c37-387d-4cef-8c68-4a37c9747f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6fa666-1867-46a8-b2e5-5449f631b3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208b3abc-62d9-4941-89fa-44cd12f9c5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504c37-387d-4cef-8c68-4a37c9747f5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be1a048-bfea-448d-8c1e-f77a2ca1efa9}" ma:internalName="TaxCatchAll" ma:showField="CatchAllData" ma:web="0b504c37-387d-4cef-8c68-4a37c9747f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97536B-48BB-4A06-A96A-DE2716903F62}">
  <ds:schemaRefs>
    <ds:schemaRef ds:uri="http://schemas.microsoft.com/office/2006/metadata/properties"/>
    <ds:schemaRef ds:uri="http://schemas.microsoft.com/office/infopath/2007/PartnerControls"/>
    <ds:schemaRef ds:uri="0c6fa666-1867-46a8-b2e5-5449f631b368"/>
    <ds:schemaRef ds:uri="0b504c37-387d-4cef-8c68-4a37c9747f54"/>
  </ds:schemaRefs>
</ds:datastoreItem>
</file>

<file path=customXml/itemProps2.xml><?xml version="1.0" encoding="utf-8"?>
<ds:datastoreItem xmlns:ds="http://schemas.openxmlformats.org/officeDocument/2006/customXml" ds:itemID="{135EE9F1-A620-4686-BF18-B506DADDC5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5042C1-5DE8-4136-ABCE-E6AF9A3CBA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6fa666-1867-46a8-b2e5-5449f631b368"/>
    <ds:schemaRef ds:uri="0b504c37-387d-4cef-8c68-4a37c9747f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2557</TotalTime>
  <Words>1857</Words>
  <Application>Microsoft Office PowerPoint</Application>
  <PresentationFormat>Presentación en pantalla (16:9)</PresentationFormat>
  <Paragraphs>208</Paragraphs>
  <Slides>27</Slides>
  <Notes>27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2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Felipe</dc:creator>
  <cp:lastModifiedBy>William Pablo Montes Quiroz</cp:lastModifiedBy>
  <cp:revision>54</cp:revision>
  <dcterms:modified xsi:type="dcterms:W3CDTF">2025-05-13T03:36:25Z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4e9a4a-eb20-4aad-9a64-8872817c1a6f_Enabled">
    <vt:lpwstr>true</vt:lpwstr>
  </property>
  <property fmtid="{D5CDD505-2E9C-101B-9397-08002B2CF9AE}" pid="3" name="MSIP_Label_9f4e9a4a-eb20-4aad-9a64-8872817c1a6f_SetDate">
    <vt:lpwstr>2025-03-25T21:23:48Z</vt:lpwstr>
  </property>
  <property fmtid="{D5CDD505-2E9C-101B-9397-08002B2CF9AE}" pid="4" name="MSIP_Label_9f4e9a4a-eb20-4aad-9a64-8872817c1a6f_Method">
    <vt:lpwstr>Standard</vt:lpwstr>
  </property>
  <property fmtid="{D5CDD505-2E9C-101B-9397-08002B2CF9AE}" pid="5" name="MSIP_Label_9f4e9a4a-eb20-4aad-9a64-8872817c1a6f_Name">
    <vt:lpwstr>defa4170-0d19-0005-0004-bc88714345d2</vt:lpwstr>
  </property>
  <property fmtid="{D5CDD505-2E9C-101B-9397-08002B2CF9AE}" pid="6" name="MSIP_Label_9f4e9a4a-eb20-4aad-9a64-8872817c1a6f_SiteId">
    <vt:lpwstr>7a599002-001c-432c-846e-1ddca9f6b299</vt:lpwstr>
  </property>
  <property fmtid="{D5CDD505-2E9C-101B-9397-08002B2CF9AE}" pid="7" name="MSIP_Label_9f4e9a4a-eb20-4aad-9a64-8872817c1a6f_ActionId">
    <vt:lpwstr>e519bf29-1db3-401b-acf6-d11fd528f44c</vt:lpwstr>
  </property>
  <property fmtid="{D5CDD505-2E9C-101B-9397-08002B2CF9AE}" pid="8" name="MSIP_Label_9f4e9a4a-eb20-4aad-9a64-8872817c1a6f_ContentBits">
    <vt:lpwstr>0</vt:lpwstr>
  </property>
  <property fmtid="{D5CDD505-2E9C-101B-9397-08002B2CF9AE}" pid="9" name="MSIP_Label_9f4e9a4a-eb20-4aad-9a64-8872817c1a6f_Tag">
    <vt:lpwstr>10, 3, 0, 1</vt:lpwstr>
  </property>
  <property fmtid="{D5CDD505-2E9C-101B-9397-08002B2CF9AE}" pid="10" name="ContentTypeId">
    <vt:lpwstr>0x01010013CBA5183A5C824297AECCA281A76BA5</vt:lpwstr>
  </property>
</Properties>
</file>